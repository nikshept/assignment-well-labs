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0A_0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3" r:id="rId9"/>
    <p:sldId id="264" r:id="rId10"/>
    <p:sldId id="265" r:id="rId11"/>
    <p:sldId id="266" r:id="rId12"/>
    <p:sldId id="272" r:id="rId13"/>
    <p:sldId id="270" r:id="rId14"/>
    <p:sldId id="268" r:id="rId15"/>
    <p:sldId id="269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925D17-B3ED-B600-1377-23466C8F7538}" name="Nikshep Trinetra" initials="NT" userId="972630c3e8f5218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E33"/>
    <a:srgbClr val="314247"/>
    <a:srgbClr val="2F7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2650378929906489"/>
          <c:y val="0"/>
          <c:w val="0.48746875390576178"/>
          <c:h val="0.8341132011276368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Reuse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7D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289-4361-AC71-196BE90F8CB8}"/>
              </c:ext>
            </c:extLst>
          </c:dPt>
          <c:dPt>
            <c:idx val="1"/>
            <c:bubble3D val="0"/>
            <c:spPr>
              <a:solidFill>
                <a:srgbClr val="B554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89-4361-AC71-196BE90F8CB8}"/>
              </c:ext>
            </c:extLst>
          </c:dPt>
          <c:dPt>
            <c:idx val="2"/>
            <c:bubble3D val="0"/>
            <c:spPr>
              <a:solidFill>
                <a:srgbClr val="C9D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89-4361-AC71-196BE90F8CB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89-4361-AC71-196BE90F8CB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89-4361-AC71-196BE90F8CB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89-4361-AC71-196BE90F8C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Lake recharge (72%)</c:v>
                </c:pt>
                <c:pt idx="1">
                  <c:v>Irrigation &amp; industrial reuse (21%)</c:v>
                </c:pt>
                <c:pt idx="2">
                  <c:v>Other reuse (7%)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21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89-4361-AC71-196BE90F8C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5B6B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CEA47D-7E68-45AC-883F-B9A77C366D40}" authorId="{B5925D17-B3ED-B600-1377-23466C8F7538}" created="2026-10-07T08:15:19.12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18" creationId="{00000000-0000-0000-0000-000000000000}"/>
      <ac:txMk cp="95" len="13">
        <ac:context len="472" hash="413058512"/>
      </ac:txMk>
    </ac:txMkLst>
    <p188:pos x="12947914" y="362035"/>
    <p188:txBody>
      <a:bodyPr/>
      <a:lstStyle/>
      <a:p>
        <a:r>
          <a:rPr lang="en-NL"/>
          <a:t>HM Green Book records the human capital approach, restitution cost approach and the Willingness-to-pay approach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99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AED2-257B-F2A0-9E75-2C8A8524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697A6-DA51-4D1E-47A6-293FDA399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5C917-3887-2B63-B794-9D021838F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5DBB9-5EC0-E9B3-BE85-A4E0B81BCA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34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7606E-7A23-FD4C-9479-BE0E47B02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BC4EB-0612-1F39-EE5B-4F318D1CD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732F6-C2BF-A629-9FD2-444F3D280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5512A-4646-3E19-53EC-BBEF37476F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54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4774F-8CD0-9088-88D8-C2BFAC56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7AD60-9293-17CA-CF31-0A6C2D62C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BA252-F5C2-F77B-6FCE-8C2C2EF25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8A552-A60A-1853-249E-BA5C02CF1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47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overnment/publications/the-green-book--2/the-green-book-2026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521440" y="1280160"/>
            <a:ext cx="5669280" cy="7726680"/>
          </a:xfrm>
          <a:prstGeom prst="roundRect">
            <a:avLst>
              <a:gd name="adj" fmla="val 2419"/>
            </a:avLst>
          </a:prstGeom>
          <a:ln w="12700">
            <a:solidFill>
              <a:srgbClr val="1B2E3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822960" y="3657600"/>
            <a:ext cx="9692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Benefits of Treated</a:t>
            </a:r>
            <a:endParaRPr lang="en-US" sz="4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Wastewater Reuse Projects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868680" y="5989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F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presentation for Urban Water Team at WELL Labs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868680" y="5806440"/>
            <a:ext cx="502920" cy="36576"/>
          </a:xfrm>
          <a:prstGeom prst="rect">
            <a:avLst/>
          </a:prstGeom>
          <a:solidFill>
            <a:srgbClr val="B554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1521440" y="9144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FB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source: </a:t>
            </a:r>
            <a:r>
              <a:rPr lang="en-US" sz="1000" i="1" dirty="0" err="1">
                <a:solidFill>
                  <a:srgbClr val="9FB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Pexels</a:t>
            </a:r>
            <a:r>
              <a:rPr lang="en-US" sz="1000" i="1" dirty="0">
                <a:solidFill>
                  <a:srgbClr val="9FB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Amine KM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D7942-48E6-52DC-53F9-3A12C3CCC9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89" r="7095"/>
          <a:stretch>
            <a:fillRect/>
          </a:stretch>
        </p:blipFill>
        <p:spPr>
          <a:xfrm>
            <a:off x="8756073" y="1571625"/>
            <a:ext cx="8526087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F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AHEAD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234440" y="2651760"/>
            <a:ext cx="1371600" cy="1371600"/>
          </a:xfrm>
          <a:prstGeom prst="ellipse">
            <a:avLst/>
          </a:prstGeom>
          <a:solidFill>
            <a:srgbClr val="2A4247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5" name="Image 0" descr="/home/claude/deck_build/icons/lis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2980944"/>
            <a:ext cx="713232" cy="713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9748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F8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2697480" y="30175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646920" y="2651760"/>
            <a:ext cx="1371600" cy="1371600"/>
          </a:xfrm>
          <a:prstGeom prst="ellipse">
            <a:avLst/>
          </a:prstGeom>
          <a:solidFill>
            <a:srgbClr val="2A4247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9" name="Image 1" descr="/home/claude/deck_build/icons/bullsey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2980944"/>
            <a:ext cx="713232" cy="7132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0996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F8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11109960" y="30175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1234440" y="5257800"/>
            <a:ext cx="1371600" cy="1371600"/>
          </a:xfrm>
          <a:prstGeom prst="ellipse">
            <a:avLst/>
          </a:prstGeom>
          <a:solidFill>
            <a:srgbClr val="2A4247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3" name="Image 2" descr="/home/claude/deck_build/icons/microscop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3624" y="5586984"/>
            <a:ext cx="713232" cy="7132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97480" y="5303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F8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2697480" y="56235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646920" y="5257800"/>
            <a:ext cx="1371600" cy="1371600"/>
          </a:xfrm>
          <a:prstGeom prst="ellipse">
            <a:avLst/>
          </a:prstGeom>
          <a:solidFill>
            <a:srgbClr val="2A4247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7" name="Image 3" descr="/home/claude/deck_build/icons/slider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6104" y="5586984"/>
            <a:ext cx="713232" cy="7132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109960" y="5303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F8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3"/>
          <p:cNvSpPr txBox="1"/>
          <p:nvPr/>
        </p:nvSpPr>
        <p:spPr>
          <a:xfrm>
            <a:off x="11109960" y="56235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1234440" y="7863840"/>
            <a:ext cx="1371600" cy="1371600"/>
          </a:xfrm>
          <a:prstGeom prst="ellipse">
            <a:avLst/>
          </a:prstGeom>
          <a:solidFill>
            <a:srgbClr val="2A4247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1" name="Image 4" descr="/home/claude/deck_build/icons/warning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3624" y="8193024"/>
            <a:ext cx="713232" cy="7132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697480" y="7909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F8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16"/>
          <p:cNvSpPr txBox="1"/>
          <p:nvPr/>
        </p:nvSpPr>
        <p:spPr>
          <a:xfrm>
            <a:off x="2697480" y="82296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9646920" y="7863840"/>
            <a:ext cx="1371600" cy="1371600"/>
          </a:xfrm>
          <a:prstGeom prst="ellipse">
            <a:avLst/>
          </a:prstGeom>
          <a:solidFill>
            <a:srgbClr val="2A4247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5" name="Image 5" descr="/home/claude/deck_build/icons/clipboar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6104" y="8193024"/>
            <a:ext cx="713232" cy="7132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109960" y="7909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F8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7" name="Text 19"/>
          <p:cNvSpPr txBox="1"/>
          <p:nvPr/>
        </p:nvSpPr>
        <p:spPr>
          <a:xfrm>
            <a:off x="11109960" y="82296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28" name="Text 20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Bengaluru's Wastewater Today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7955280" cy="72237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 txBox="1"/>
          <p:nvPr/>
        </p:nvSpPr>
        <p:spPr>
          <a:xfrm>
            <a:off x="1280160" y="2697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Business-as-usual (BAU) Scenario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310128"/>
            <a:ext cx="704088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1,940 MLD of wastewater is generated by Bengaluru every day.</a:t>
            </a:r>
            <a:b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this, about </a:t>
            </a:r>
            <a:r>
              <a:rPr lang="en-US" sz="3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 MLD</a:t>
            </a:r>
            <a:r>
              <a:rPr lang="en-US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treated wastewater is redirected:</a:t>
            </a:r>
            <a:endParaRPr lang="en-US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541904760"/>
              </p:ext>
            </p:extLst>
          </p:nvPr>
        </p:nvGraphicFramePr>
        <p:xfrm>
          <a:off x="1165860" y="4537194"/>
          <a:ext cx="7269480" cy="4503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9144000" y="23317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Reuse Scenarios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0" y="3108960"/>
            <a:ext cx="8321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Shape 8"/>
          <p:cNvSpPr/>
          <p:nvPr/>
        </p:nvSpPr>
        <p:spPr>
          <a:xfrm>
            <a:off x="9646920" y="3314700"/>
            <a:ext cx="1005840" cy="1005840"/>
          </a:xfrm>
          <a:prstGeom prst="ellipse">
            <a:avLst/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2" name="Image 0" descr="/home/claude/deck_build/icons/seedling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8322" y="355610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27080" y="3310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0927080" y="363931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Irrigating farms on the city's edges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9144000" y="4754880"/>
            <a:ext cx="8321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9646920" y="4960620"/>
            <a:ext cx="1005840" cy="1005840"/>
          </a:xfrm>
          <a:prstGeom prst="ellipse">
            <a:avLst/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7" name="Image 1" descr="/home/claude/deck_build/icons/tre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8322" y="5202022"/>
            <a:ext cx="523037" cy="5230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927080" y="4956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0927080" y="528523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Watering public parks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9144000" y="6400800"/>
            <a:ext cx="8321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Shape 16"/>
          <p:cNvSpPr/>
          <p:nvPr/>
        </p:nvSpPr>
        <p:spPr>
          <a:xfrm>
            <a:off x="9646920" y="6606540"/>
            <a:ext cx="1005840" cy="1005840"/>
          </a:xfrm>
          <a:prstGeom prst="ellipse">
            <a:avLst/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2" name="Image 2" descr="/home/claude/deck_build/icons/factory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8322" y="6847942"/>
            <a:ext cx="523037" cy="52303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927080" y="66019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0927080" y="693115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Supplying cooling water to an industrial estate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9144000" y="8138160"/>
            <a:ext cx="8321040" cy="1691640"/>
          </a:xfrm>
          <a:prstGeom prst="roundRect">
            <a:avLst>
              <a:gd name="adj" fmla="val 6486"/>
            </a:avLst>
          </a:prstGeom>
          <a:solidFill>
            <a:srgbClr val="3E4F54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6" name="Text 20"/>
          <p:cNvSpPr txBox="1"/>
          <p:nvPr/>
        </p:nvSpPr>
        <p:spPr>
          <a:xfrm>
            <a:off x="9555480" y="8138160"/>
            <a:ext cx="7498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city wants to know the monetary value of the increment in public health benefits under these potential scenarios.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97840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and Singhal, 2024; Kulranjan et al., 2024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Assignment Sets Out to Do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16642080" cy="2103120"/>
          </a:xfrm>
          <a:prstGeom prst="roundRect">
            <a:avLst>
              <a:gd name="adj" fmla="val 5217"/>
            </a:avLst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 txBox="1"/>
          <p:nvPr/>
        </p:nvSpPr>
        <p:spPr>
          <a:xfrm>
            <a:off x="1280160" y="2651760"/>
            <a:ext cx="1572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estimate the incremental value of </a:t>
            </a: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health benefits</a:t>
            </a: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the </a:t>
            </a: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irrigation scenario (S2)</a:t>
            </a: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over the business-as-usual scenario (BAU).</a:t>
            </a:r>
            <a:endParaRPr lang="en-US" sz="2600" dirty="0">
              <a:solidFill>
                <a:schemeClr val="tx2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4779811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 a science that aims to: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5328451"/>
            <a:ext cx="5181600" cy="2743200"/>
          </a:xfrm>
          <a:prstGeom prst="roundRect">
            <a:avLst>
              <a:gd name="adj" fmla="val 4000"/>
            </a:avLst>
          </a:prstGeom>
          <a:solidFill>
            <a:srgbClr val="314247">
              <a:alpha val="42000"/>
            </a:srgbClr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 dirty="0"/>
          </a:p>
        </p:txBody>
      </p:sp>
      <p:sp>
        <p:nvSpPr>
          <p:cNvPr id="8" name="Shape 6"/>
          <p:cNvSpPr/>
          <p:nvPr/>
        </p:nvSpPr>
        <p:spPr>
          <a:xfrm>
            <a:off x="2727960" y="5694211"/>
            <a:ext cx="1371600" cy="1371600"/>
          </a:xfrm>
          <a:prstGeom prst="ellipse">
            <a:avLst/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9" name="Image 0" descr="/home/claude/deck_build/icons/shiel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144" y="6023395"/>
            <a:ext cx="713232" cy="7132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000" y="7202971"/>
            <a:ext cx="454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promote health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6553200" y="5328451"/>
            <a:ext cx="5181600" cy="2743200"/>
          </a:xfrm>
          <a:prstGeom prst="roundRect">
            <a:avLst>
              <a:gd name="adj" fmla="val 4000"/>
            </a:avLst>
          </a:prstGeom>
          <a:solidFill>
            <a:srgbClr val="314247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9"/>
          <p:cNvSpPr/>
          <p:nvPr/>
        </p:nvSpPr>
        <p:spPr>
          <a:xfrm>
            <a:off x="8458200" y="5694211"/>
            <a:ext cx="1371600" cy="1371600"/>
          </a:xfrm>
          <a:prstGeom prst="ellipse">
            <a:avLst/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3" name="Image 1" descr="/home/claude/deck_build/icons/viru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384" y="6023395"/>
            <a:ext cx="713232" cy="7132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73240" y="7202971"/>
            <a:ext cx="454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diseases and premature mortality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2283440" y="5328451"/>
            <a:ext cx="5181600" cy="2743200"/>
          </a:xfrm>
          <a:prstGeom prst="roundRect">
            <a:avLst>
              <a:gd name="adj" fmla="val 4000"/>
            </a:avLst>
          </a:prstGeom>
          <a:solidFill>
            <a:srgbClr val="314247">
              <a:alpha val="40000"/>
            </a:srgbClr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14188440" y="5694211"/>
            <a:ext cx="1371600" cy="1371600"/>
          </a:xfrm>
          <a:prstGeom prst="ellipse">
            <a:avLst/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7" name="Image 2" descr="/home/claude/deck_build/icons/balanc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7624" y="6023395"/>
            <a:ext cx="713232" cy="7132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603480" y="7202971"/>
            <a:ext cx="454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health disparities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22960" y="8483131"/>
            <a:ext cx="16642080" cy="868680"/>
          </a:xfrm>
          <a:prstGeom prst="roundRect">
            <a:avLst>
              <a:gd name="adj" fmla="val 12632"/>
            </a:avLst>
          </a:prstGeom>
          <a:solidFill>
            <a:srgbClr val="1B2E33">
              <a:alpha val="90000"/>
            </a:srgbClr>
          </a:solidFill>
          <a:ln/>
        </p:spPr>
        <p:txBody>
          <a:bodyPr/>
          <a:lstStyle/>
          <a:p>
            <a:endParaRPr lang="en-NL" dirty="0"/>
          </a:p>
        </p:txBody>
      </p:sp>
      <p:sp>
        <p:nvSpPr>
          <p:cNvPr id="20" name="Text 15"/>
          <p:cNvSpPr txBox="1"/>
          <p:nvPr/>
        </p:nvSpPr>
        <p:spPr>
          <a:xfrm>
            <a:off x="1188720" y="8483131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this assignment: Diarrheal disease risk prevention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950976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et al., 2020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AND METHODOLOGY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Research Questions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348928"/>
            <a:ext cx="80467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1188720" y="2668968"/>
            <a:ext cx="1188720" cy="1188720"/>
          </a:xfrm>
          <a:prstGeom prst="ellipse">
            <a:avLst/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0" descr="/home/claude/deck_build/icons/wate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13" y="2954261"/>
            <a:ext cx="618134" cy="61813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514600" y="27604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3857688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pathway of treated wastewater in each scenario?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50006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Diagram (</a:t>
            </a:r>
            <a:r>
              <a:rPr lang="da-DK" sz="2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and Singhal, 2024; Kulranjan et al., 2024</a:t>
            </a:r>
            <a:r>
              <a:rPr lang="en-US" sz="2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da-DK" sz="2000" i="1" dirty="0">
              <a:solidFill>
                <a:srgbClr val="5B6B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418320" y="2348928"/>
            <a:ext cx="80467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Shape 10"/>
          <p:cNvSpPr/>
          <p:nvPr/>
        </p:nvSpPr>
        <p:spPr>
          <a:xfrm>
            <a:off x="9784080" y="2668968"/>
            <a:ext cx="1188720" cy="1188720"/>
          </a:xfrm>
          <a:prstGeom prst="ellipse">
            <a:avLst/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4" name="Image 1" descr="/home/claude/deck_build/icons/heartbea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373" y="2954261"/>
            <a:ext cx="618134" cy="61813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109960" y="27604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9875520" y="3857688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</a:t>
            </a:r>
            <a:r>
              <a:rPr lang="en-US" sz="2400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</a:rPr>
              <a:t>the diarrheal </a:t>
            </a:r>
            <a:r>
              <a:rPr lang="en-US" sz="2400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burden? 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9875520" y="50006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DALY (George et al., 2015; WHO Guidelines, 2017)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822960" y="5960808"/>
            <a:ext cx="80467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Shape 15"/>
          <p:cNvSpPr/>
          <p:nvPr/>
        </p:nvSpPr>
        <p:spPr>
          <a:xfrm>
            <a:off x="1188720" y="6280848"/>
            <a:ext cx="1188720" cy="1188720"/>
          </a:xfrm>
          <a:prstGeom prst="ellipse">
            <a:avLst/>
          </a:prstGeom>
          <a:solidFill>
            <a:srgbClr val="E7F0EF"/>
          </a:solidFill>
          <a:ln/>
        </p:spPr>
        <p:txBody>
          <a:bodyPr/>
          <a:lstStyle/>
          <a:p>
            <a:endParaRPr lang="en-NL" dirty="0"/>
          </a:p>
        </p:txBody>
      </p:sp>
      <p:pic>
        <p:nvPicPr>
          <p:cNvPr id="20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78626" y="6566141"/>
            <a:ext cx="608908" cy="61813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514600" y="63722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1280160" y="7469568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monetary value of this disease burden?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1280160" y="86125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a DALY (Bergion et al., 2020; HM Treasury, 2026)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9418320" y="5960808"/>
            <a:ext cx="80467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5" name="Shape 20"/>
          <p:cNvSpPr/>
          <p:nvPr/>
        </p:nvSpPr>
        <p:spPr>
          <a:xfrm>
            <a:off x="9784080" y="6280848"/>
            <a:ext cx="1188720" cy="1188720"/>
          </a:xfrm>
          <a:prstGeom prst="ellipse">
            <a:avLst/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6" name="Image 3" descr="/home/claude/deck_build/icons/slider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9373" y="6566141"/>
            <a:ext cx="618134" cy="61813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1109960" y="63722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2400" dirty="0"/>
          </a:p>
        </p:txBody>
      </p:sp>
      <p:sp>
        <p:nvSpPr>
          <p:cNvPr id="28" name="Text 22"/>
          <p:cNvSpPr txBox="1"/>
          <p:nvPr/>
        </p:nvSpPr>
        <p:spPr>
          <a:xfrm>
            <a:off x="9875520" y="7469568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monetary value vary across key variables?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9875520" y="86125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2000" dirty="0"/>
          </a:p>
        </p:txBody>
      </p:sp>
      <p:sp>
        <p:nvSpPr>
          <p:cNvPr id="30" name="Text 24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Pathway of Treated Wastewater in Each Scenario?</a:t>
            </a:r>
            <a:endParaRPr lang="en-US" sz="3200" b="1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80924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1097280" y="224028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2F7D7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 txBox="1"/>
          <p:nvPr/>
        </p:nvSpPr>
        <p:spPr>
          <a:xfrm>
            <a:off x="1097280" y="22402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72600" y="1965960"/>
            <a:ext cx="80924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9646920" y="224028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B554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 txBox="1"/>
          <p:nvPr/>
        </p:nvSpPr>
        <p:spPr>
          <a:xfrm>
            <a:off x="9646920" y="22402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6263640"/>
            <a:ext cx="80924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1097280" y="653796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B554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 txBox="1"/>
          <p:nvPr/>
        </p:nvSpPr>
        <p:spPr>
          <a:xfrm>
            <a:off x="1097280" y="65379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72600" y="6263640"/>
            <a:ext cx="80924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9646920" y="653796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B554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 txBox="1"/>
          <p:nvPr/>
        </p:nvSpPr>
        <p:spPr>
          <a:xfrm>
            <a:off x="9646920" y="65379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3000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 txBox="1"/>
          <p:nvPr/>
        </p:nvSpPr>
        <p:spPr>
          <a:xfrm>
            <a:off x="1188720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(2° STP)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17420" y="3314700"/>
            <a:ext cx="201168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2418588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 txBox="1"/>
          <p:nvPr/>
        </p:nvSpPr>
        <p:spPr>
          <a:xfrm>
            <a:off x="2464308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Lakes / tanks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(recharge)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93008" y="3314700"/>
            <a:ext cx="201168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3694176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 txBox="1"/>
          <p:nvPr/>
        </p:nvSpPr>
        <p:spPr>
          <a:xfrm>
            <a:off x="3739896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Aquifer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68596" y="3314700"/>
            <a:ext cx="201168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4969764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 txBox="1"/>
          <p:nvPr/>
        </p:nvSpPr>
        <p:spPr>
          <a:xfrm>
            <a:off x="5015484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 / open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44184" y="3314700"/>
            <a:ext cx="201168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6245352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 txBox="1"/>
          <p:nvPr/>
        </p:nvSpPr>
        <p:spPr>
          <a:xfrm>
            <a:off x="6291072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treatment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(WTP)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9772" y="3314700"/>
            <a:ext cx="201168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7520940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E7F0E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 txBox="1"/>
          <p:nvPr/>
        </p:nvSpPr>
        <p:spPr>
          <a:xfrm>
            <a:off x="7566660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58150" y="3749040"/>
            <a:ext cx="0" cy="50292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4" name="Shape 32"/>
          <p:cNvSpPr/>
          <p:nvPr/>
        </p:nvSpPr>
        <p:spPr>
          <a:xfrm>
            <a:off x="2324100" y="4251960"/>
            <a:ext cx="573405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Shape 33"/>
          <p:cNvSpPr/>
          <p:nvPr/>
        </p:nvSpPr>
        <p:spPr>
          <a:xfrm>
            <a:off x="2324100" y="4251960"/>
            <a:ext cx="0" cy="9144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6" name="Shape 34"/>
          <p:cNvSpPr/>
          <p:nvPr/>
        </p:nvSpPr>
        <p:spPr>
          <a:xfrm>
            <a:off x="1143000" y="4343400"/>
            <a:ext cx="2362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Text 35"/>
          <p:cNvSpPr txBox="1"/>
          <p:nvPr/>
        </p:nvSpPr>
        <p:spPr>
          <a:xfrm>
            <a:off x="1188720" y="4343400"/>
            <a:ext cx="227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69180" y="4251960"/>
            <a:ext cx="318897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Shape 37"/>
          <p:cNvSpPr/>
          <p:nvPr/>
        </p:nvSpPr>
        <p:spPr>
          <a:xfrm>
            <a:off x="4869180" y="4251960"/>
            <a:ext cx="0" cy="9144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40" name="Shape 38"/>
          <p:cNvSpPr/>
          <p:nvPr/>
        </p:nvSpPr>
        <p:spPr>
          <a:xfrm>
            <a:off x="3688080" y="4343400"/>
            <a:ext cx="2362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 txBox="1"/>
          <p:nvPr/>
        </p:nvSpPr>
        <p:spPr>
          <a:xfrm>
            <a:off x="3733800" y="4343400"/>
            <a:ext cx="227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use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414260" y="4251960"/>
            <a:ext cx="64389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Shape 41"/>
          <p:cNvSpPr/>
          <p:nvPr/>
        </p:nvSpPr>
        <p:spPr>
          <a:xfrm>
            <a:off x="7414260" y="4251960"/>
            <a:ext cx="0" cy="9144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44" name="Shape 42"/>
          <p:cNvSpPr/>
          <p:nvPr/>
        </p:nvSpPr>
        <p:spPr>
          <a:xfrm>
            <a:off x="6233160" y="4343400"/>
            <a:ext cx="2362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5" name="Text 43"/>
          <p:cNvSpPr txBox="1"/>
          <p:nvPr/>
        </p:nvSpPr>
        <p:spPr>
          <a:xfrm>
            <a:off x="6278880" y="4343400"/>
            <a:ext cx="227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water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738360" y="370332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7" name="Text 45"/>
          <p:cNvSpPr txBox="1"/>
          <p:nvPr/>
        </p:nvSpPr>
        <p:spPr>
          <a:xfrm>
            <a:off x="9784080" y="370332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(2° STP)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372850" y="418338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49" name="Shape 47"/>
          <p:cNvSpPr/>
          <p:nvPr/>
        </p:nvSpPr>
        <p:spPr>
          <a:xfrm>
            <a:off x="11647170" y="370332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0" name="Text 48"/>
          <p:cNvSpPr txBox="1"/>
          <p:nvPr/>
        </p:nvSpPr>
        <p:spPr>
          <a:xfrm>
            <a:off x="11692890" y="370332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(3° TP)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3281660" y="418338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52" name="Shape 50"/>
          <p:cNvSpPr/>
          <p:nvPr/>
        </p:nvSpPr>
        <p:spPr>
          <a:xfrm>
            <a:off x="13555980" y="370332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E7F0E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3" name="Text 51"/>
          <p:cNvSpPr txBox="1"/>
          <p:nvPr/>
        </p:nvSpPr>
        <p:spPr>
          <a:xfrm>
            <a:off x="13601700" y="370332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Sump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5190470" y="418338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55" name="Shape 53"/>
          <p:cNvSpPr/>
          <p:nvPr/>
        </p:nvSpPr>
        <p:spPr>
          <a:xfrm>
            <a:off x="15464790" y="370332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BEEE7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6" name="Text 54"/>
          <p:cNvSpPr txBox="1"/>
          <p:nvPr/>
        </p:nvSpPr>
        <p:spPr>
          <a:xfrm>
            <a:off x="15510510" y="370332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8872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8" name="Text 56"/>
          <p:cNvSpPr txBox="1"/>
          <p:nvPr/>
        </p:nvSpPr>
        <p:spPr>
          <a:xfrm>
            <a:off x="123444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(2° STP)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82321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60" name="Shape 58"/>
          <p:cNvSpPr/>
          <p:nvPr/>
        </p:nvSpPr>
        <p:spPr>
          <a:xfrm>
            <a:off x="309753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1" name="Text 59"/>
          <p:cNvSpPr txBox="1"/>
          <p:nvPr/>
        </p:nvSpPr>
        <p:spPr>
          <a:xfrm>
            <a:off x="314325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(3° TP)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73202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63" name="Shape 61"/>
          <p:cNvSpPr/>
          <p:nvPr/>
        </p:nvSpPr>
        <p:spPr>
          <a:xfrm>
            <a:off x="500634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E7F0E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4" name="Text 62"/>
          <p:cNvSpPr txBox="1"/>
          <p:nvPr/>
        </p:nvSpPr>
        <p:spPr>
          <a:xfrm>
            <a:off x="505206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Sump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64083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66" name="Shape 64"/>
          <p:cNvSpPr/>
          <p:nvPr/>
        </p:nvSpPr>
        <p:spPr>
          <a:xfrm>
            <a:off x="691515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BEEE7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7" name="Text 65"/>
          <p:cNvSpPr txBox="1"/>
          <p:nvPr/>
        </p:nvSpPr>
        <p:spPr>
          <a:xfrm>
            <a:off x="696087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Watering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parks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73836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9" name="Text 67"/>
          <p:cNvSpPr txBox="1"/>
          <p:nvPr/>
        </p:nvSpPr>
        <p:spPr>
          <a:xfrm>
            <a:off x="978408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(2° STP)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137285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1" name="Shape 69"/>
          <p:cNvSpPr/>
          <p:nvPr/>
        </p:nvSpPr>
        <p:spPr>
          <a:xfrm>
            <a:off x="1164717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2" name="Text 70"/>
          <p:cNvSpPr txBox="1"/>
          <p:nvPr/>
        </p:nvSpPr>
        <p:spPr>
          <a:xfrm>
            <a:off x="1169289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(3° TP)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328166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4" name="Shape 72"/>
          <p:cNvSpPr/>
          <p:nvPr/>
        </p:nvSpPr>
        <p:spPr>
          <a:xfrm>
            <a:off x="1355598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E7F0E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5" name="Text 73"/>
          <p:cNvSpPr txBox="1"/>
          <p:nvPr/>
        </p:nvSpPr>
        <p:spPr>
          <a:xfrm>
            <a:off x="1360170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Sump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519047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7" name="Shape 75"/>
          <p:cNvSpPr/>
          <p:nvPr/>
        </p:nvSpPr>
        <p:spPr>
          <a:xfrm>
            <a:off x="1546479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BEEE7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8" name="Text 76"/>
          <p:cNvSpPr txBox="1"/>
          <p:nvPr/>
        </p:nvSpPr>
        <p:spPr>
          <a:xfrm>
            <a:off x="1551051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water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9578340" y="9601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and Singhal, 2024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82" name="Text 77">
            <a:extLst>
              <a:ext uri="{FF2B5EF4-FFF2-40B4-BE49-F238E27FC236}">
                <a16:creationId xmlns:a16="http://schemas.microsoft.com/office/drawing/2014/main" id="{1988A443-2164-B7FB-06C6-DAC467A15494}"/>
              </a:ext>
            </a:extLst>
          </p:cNvPr>
          <p:cNvSpPr txBox="1"/>
          <p:nvPr/>
        </p:nvSpPr>
        <p:spPr>
          <a:xfrm>
            <a:off x="1065276" y="539496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and Singhal, 2024</a:t>
            </a:r>
            <a:endParaRPr lang="en-US" sz="1100" dirty="0"/>
          </a:p>
        </p:txBody>
      </p:sp>
      <p:sp>
        <p:nvSpPr>
          <p:cNvPr id="84" name="Text 77">
            <a:extLst>
              <a:ext uri="{FF2B5EF4-FFF2-40B4-BE49-F238E27FC236}">
                <a16:creationId xmlns:a16="http://schemas.microsoft.com/office/drawing/2014/main" id="{F647656D-7972-DDF4-4912-37889B83E6C1}"/>
              </a:ext>
            </a:extLst>
          </p:cNvPr>
          <p:cNvSpPr txBox="1"/>
          <p:nvPr/>
        </p:nvSpPr>
        <p:spPr>
          <a:xfrm>
            <a:off x="9528464" y="54005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</a:t>
            </a:r>
            <a:endParaRPr lang="en-US" sz="1100" dirty="0"/>
          </a:p>
        </p:txBody>
      </p:sp>
      <p:sp>
        <p:nvSpPr>
          <p:cNvPr id="86" name="Text 77">
            <a:extLst>
              <a:ext uri="{FF2B5EF4-FFF2-40B4-BE49-F238E27FC236}">
                <a16:creationId xmlns:a16="http://schemas.microsoft.com/office/drawing/2014/main" id="{0D2D2DAB-E8E5-F8DA-55CD-4E4ABB118C7E}"/>
              </a:ext>
            </a:extLst>
          </p:cNvPr>
          <p:cNvSpPr txBox="1"/>
          <p:nvPr/>
        </p:nvSpPr>
        <p:spPr>
          <a:xfrm>
            <a:off x="1065276" y="9601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D80B5-FD87-6447-AD95-2BFD91B7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25C901-7A1A-6451-8C95-F168CB438359}"/>
              </a:ext>
            </a:extLst>
          </p:cNvPr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 2A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CE4453-F5C7-E4B3-6578-17674A7FB9F4}"/>
              </a:ext>
            </a:extLst>
          </p:cNvPr>
          <p:cNvSpPr txBox="1"/>
          <p:nvPr/>
        </p:nvSpPr>
        <p:spPr>
          <a:xfrm>
            <a:off x="822960" y="77724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Exposed to the Treated Wastewater?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10F208-15E2-4324-3B80-6C049048ACC9}"/>
              </a:ext>
            </a:extLst>
          </p:cNvPr>
          <p:cNvSpPr/>
          <p:nvPr/>
        </p:nvSpPr>
        <p:spPr>
          <a:xfrm>
            <a:off x="822960" y="1965960"/>
            <a:ext cx="80924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7DB70BB-BCA5-14CC-0C3B-6D483CCFCF17}"/>
              </a:ext>
            </a:extLst>
          </p:cNvPr>
          <p:cNvSpPr/>
          <p:nvPr/>
        </p:nvSpPr>
        <p:spPr>
          <a:xfrm>
            <a:off x="1097280" y="224028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2F7D7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D9F3E8-0018-9990-C6A8-15FAB110C9C4}"/>
              </a:ext>
            </a:extLst>
          </p:cNvPr>
          <p:cNvSpPr txBox="1"/>
          <p:nvPr/>
        </p:nvSpPr>
        <p:spPr>
          <a:xfrm>
            <a:off x="1097280" y="22402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A68F2BA-F171-ECB6-2ACB-9600F2D62DC8}"/>
              </a:ext>
            </a:extLst>
          </p:cNvPr>
          <p:cNvSpPr/>
          <p:nvPr/>
        </p:nvSpPr>
        <p:spPr>
          <a:xfrm>
            <a:off x="9372600" y="1965960"/>
            <a:ext cx="80924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ABBA19-E171-806D-4E66-CE9C9392C98C}"/>
              </a:ext>
            </a:extLst>
          </p:cNvPr>
          <p:cNvSpPr/>
          <p:nvPr/>
        </p:nvSpPr>
        <p:spPr>
          <a:xfrm>
            <a:off x="9646920" y="224028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B554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51D0111-829F-458C-F0DE-5AB1EB3CEF8E}"/>
              </a:ext>
            </a:extLst>
          </p:cNvPr>
          <p:cNvSpPr txBox="1"/>
          <p:nvPr/>
        </p:nvSpPr>
        <p:spPr>
          <a:xfrm>
            <a:off x="9646920" y="22402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52EE5E9-4692-253A-7B4A-EF446A0188C1}"/>
              </a:ext>
            </a:extLst>
          </p:cNvPr>
          <p:cNvSpPr/>
          <p:nvPr/>
        </p:nvSpPr>
        <p:spPr>
          <a:xfrm>
            <a:off x="822960" y="6263640"/>
            <a:ext cx="80924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96B287-36F9-715F-9B26-E486C55B31DE}"/>
              </a:ext>
            </a:extLst>
          </p:cNvPr>
          <p:cNvSpPr/>
          <p:nvPr/>
        </p:nvSpPr>
        <p:spPr>
          <a:xfrm>
            <a:off x="1097280" y="653796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B554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6F36939-80DF-8B55-6A3A-5538B55889C7}"/>
              </a:ext>
            </a:extLst>
          </p:cNvPr>
          <p:cNvSpPr txBox="1"/>
          <p:nvPr/>
        </p:nvSpPr>
        <p:spPr>
          <a:xfrm>
            <a:off x="1097280" y="65379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AE2821C-8C25-CD32-D30C-9E9546E423DC}"/>
              </a:ext>
            </a:extLst>
          </p:cNvPr>
          <p:cNvSpPr/>
          <p:nvPr/>
        </p:nvSpPr>
        <p:spPr>
          <a:xfrm>
            <a:off x="9372600" y="6263640"/>
            <a:ext cx="80924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5D16743-22F6-3E49-3B95-FEC445FCB20A}"/>
              </a:ext>
            </a:extLst>
          </p:cNvPr>
          <p:cNvSpPr/>
          <p:nvPr/>
        </p:nvSpPr>
        <p:spPr>
          <a:xfrm>
            <a:off x="9646920" y="653796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B554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2DF4274-40BF-E64F-771B-5F5C7DF2DBE6}"/>
              </a:ext>
            </a:extLst>
          </p:cNvPr>
          <p:cNvSpPr txBox="1"/>
          <p:nvPr/>
        </p:nvSpPr>
        <p:spPr>
          <a:xfrm>
            <a:off x="9646920" y="65379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E17DA09-197C-F68D-4D05-3DC4DCB0BDB3}"/>
              </a:ext>
            </a:extLst>
          </p:cNvPr>
          <p:cNvSpPr/>
          <p:nvPr/>
        </p:nvSpPr>
        <p:spPr>
          <a:xfrm>
            <a:off x="1143000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F23A19C-6E65-B125-99EF-32D72EF829ED}"/>
              </a:ext>
            </a:extLst>
          </p:cNvPr>
          <p:cNvSpPr txBox="1"/>
          <p:nvPr/>
        </p:nvSpPr>
        <p:spPr>
          <a:xfrm>
            <a:off x="1188720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(2° STP)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3E28FD0-3BD8-053F-07A2-0F2157C54257}"/>
              </a:ext>
            </a:extLst>
          </p:cNvPr>
          <p:cNvSpPr/>
          <p:nvPr/>
        </p:nvSpPr>
        <p:spPr>
          <a:xfrm>
            <a:off x="2217420" y="3314700"/>
            <a:ext cx="201168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30353BB-9990-DACE-4934-249FFE3A0F20}"/>
              </a:ext>
            </a:extLst>
          </p:cNvPr>
          <p:cNvSpPr/>
          <p:nvPr/>
        </p:nvSpPr>
        <p:spPr>
          <a:xfrm>
            <a:off x="2418588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6FDA559-D66B-EE57-1937-A482748E9DB1}"/>
              </a:ext>
            </a:extLst>
          </p:cNvPr>
          <p:cNvSpPr txBox="1"/>
          <p:nvPr/>
        </p:nvSpPr>
        <p:spPr>
          <a:xfrm>
            <a:off x="2464308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Lakes / tanks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(recharge)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23E1BCE-576F-7787-80D8-96CDF53BFDEF}"/>
              </a:ext>
            </a:extLst>
          </p:cNvPr>
          <p:cNvSpPr/>
          <p:nvPr/>
        </p:nvSpPr>
        <p:spPr>
          <a:xfrm>
            <a:off x="3493008" y="3314700"/>
            <a:ext cx="201168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B841AB6-43E3-F76A-8C13-EEA04F0B42E7}"/>
              </a:ext>
            </a:extLst>
          </p:cNvPr>
          <p:cNvSpPr/>
          <p:nvPr/>
        </p:nvSpPr>
        <p:spPr>
          <a:xfrm>
            <a:off x="3694176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0DB6D92-D30C-8419-A6EA-B8C50E16B730}"/>
              </a:ext>
            </a:extLst>
          </p:cNvPr>
          <p:cNvSpPr txBox="1"/>
          <p:nvPr/>
        </p:nvSpPr>
        <p:spPr>
          <a:xfrm>
            <a:off x="3739896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Aquifer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B07DF41-2B96-52AE-AFA8-FF8F2F09DF06}"/>
              </a:ext>
            </a:extLst>
          </p:cNvPr>
          <p:cNvSpPr/>
          <p:nvPr/>
        </p:nvSpPr>
        <p:spPr>
          <a:xfrm>
            <a:off x="4768596" y="3314700"/>
            <a:ext cx="201168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FAD2107-EFB7-99AB-FB4C-4FD4F7CAA529}"/>
              </a:ext>
            </a:extLst>
          </p:cNvPr>
          <p:cNvSpPr/>
          <p:nvPr/>
        </p:nvSpPr>
        <p:spPr>
          <a:xfrm>
            <a:off x="4969764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4F9B35E-2F8E-45D5-48C5-6D052623AD48}"/>
              </a:ext>
            </a:extLst>
          </p:cNvPr>
          <p:cNvSpPr txBox="1"/>
          <p:nvPr/>
        </p:nvSpPr>
        <p:spPr>
          <a:xfrm>
            <a:off x="5015484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 / open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</a:t>
            </a:r>
            <a:endParaRPr lang="en-US" sz="11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C684F77-A2F2-B3F5-1A5D-3E254141E653}"/>
              </a:ext>
            </a:extLst>
          </p:cNvPr>
          <p:cNvSpPr/>
          <p:nvPr/>
        </p:nvSpPr>
        <p:spPr>
          <a:xfrm>
            <a:off x="6044184" y="3314700"/>
            <a:ext cx="201168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A429A24-FA53-359A-E2ED-49C26C2BEC0A}"/>
              </a:ext>
            </a:extLst>
          </p:cNvPr>
          <p:cNvSpPr/>
          <p:nvPr/>
        </p:nvSpPr>
        <p:spPr>
          <a:xfrm>
            <a:off x="6245352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92B4890-E12C-602F-2C74-60AA5DDB4443}"/>
              </a:ext>
            </a:extLst>
          </p:cNvPr>
          <p:cNvSpPr txBox="1"/>
          <p:nvPr/>
        </p:nvSpPr>
        <p:spPr>
          <a:xfrm>
            <a:off x="6291072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treatment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(WTP)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4E32E91-63D4-EC7C-EB2E-B97753BEC37D}"/>
              </a:ext>
            </a:extLst>
          </p:cNvPr>
          <p:cNvSpPr/>
          <p:nvPr/>
        </p:nvSpPr>
        <p:spPr>
          <a:xfrm>
            <a:off x="7319772" y="3314700"/>
            <a:ext cx="201168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676539A-7B5E-39AB-95A6-D81DFA5F843F}"/>
              </a:ext>
            </a:extLst>
          </p:cNvPr>
          <p:cNvSpPr/>
          <p:nvPr/>
        </p:nvSpPr>
        <p:spPr>
          <a:xfrm>
            <a:off x="7520940" y="2880360"/>
            <a:ext cx="1074420" cy="868680"/>
          </a:xfrm>
          <a:prstGeom prst="roundRect">
            <a:avLst>
              <a:gd name="adj" fmla="val 8421"/>
            </a:avLst>
          </a:prstGeom>
          <a:solidFill>
            <a:srgbClr val="E7F0E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51C9976-A467-5786-0B73-4F87DD031F3C}"/>
              </a:ext>
            </a:extLst>
          </p:cNvPr>
          <p:cNvSpPr txBox="1"/>
          <p:nvPr/>
        </p:nvSpPr>
        <p:spPr>
          <a:xfrm>
            <a:off x="7566660" y="2880360"/>
            <a:ext cx="982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Sump</a:t>
            </a:r>
            <a:endParaRPr lang="en-US" sz="11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5BE5050-4807-1CB1-2362-591AB6889573}"/>
              </a:ext>
            </a:extLst>
          </p:cNvPr>
          <p:cNvSpPr/>
          <p:nvPr/>
        </p:nvSpPr>
        <p:spPr>
          <a:xfrm>
            <a:off x="8058150" y="3749040"/>
            <a:ext cx="0" cy="50292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0328ECF-3E6B-7D39-AD00-0C2D161DA172}"/>
              </a:ext>
            </a:extLst>
          </p:cNvPr>
          <p:cNvSpPr/>
          <p:nvPr/>
        </p:nvSpPr>
        <p:spPr>
          <a:xfrm>
            <a:off x="2324100" y="4251960"/>
            <a:ext cx="573405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F96F172-AE65-DEB5-7F14-B51B33CA1314}"/>
              </a:ext>
            </a:extLst>
          </p:cNvPr>
          <p:cNvSpPr/>
          <p:nvPr/>
        </p:nvSpPr>
        <p:spPr>
          <a:xfrm>
            <a:off x="2324100" y="4251960"/>
            <a:ext cx="0" cy="9144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7C22758-75AA-9825-F2E9-E7215D187D41}"/>
              </a:ext>
            </a:extLst>
          </p:cNvPr>
          <p:cNvSpPr/>
          <p:nvPr/>
        </p:nvSpPr>
        <p:spPr>
          <a:xfrm>
            <a:off x="1143000" y="4343400"/>
            <a:ext cx="2362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5AD4C5C-B7C0-CE58-AC51-5C5AC888BBC8}"/>
              </a:ext>
            </a:extLst>
          </p:cNvPr>
          <p:cNvSpPr txBox="1"/>
          <p:nvPr/>
        </p:nvSpPr>
        <p:spPr>
          <a:xfrm>
            <a:off x="1188720" y="4343400"/>
            <a:ext cx="227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6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D947760-0325-AAEE-1747-061D6271E1CC}"/>
              </a:ext>
            </a:extLst>
          </p:cNvPr>
          <p:cNvSpPr/>
          <p:nvPr/>
        </p:nvSpPr>
        <p:spPr>
          <a:xfrm>
            <a:off x="4869180" y="4251960"/>
            <a:ext cx="318897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C1F895B-322C-D383-B59D-EC5D400B878F}"/>
              </a:ext>
            </a:extLst>
          </p:cNvPr>
          <p:cNvSpPr/>
          <p:nvPr/>
        </p:nvSpPr>
        <p:spPr>
          <a:xfrm>
            <a:off x="4869180" y="4251960"/>
            <a:ext cx="0" cy="9144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A597A41-4278-4859-8EEF-0D592E95F70E}"/>
              </a:ext>
            </a:extLst>
          </p:cNvPr>
          <p:cNvSpPr/>
          <p:nvPr/>
        </p:nvSpPr>
        <p:spPr>
          <a:xfrm>
            <a:off x="3688080" y="4343400"/>
            <a:ext cx="2362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6A502243-FB77-0DB1-6837-869298D7D5DC}"/>
              </a:ext>
            </a:extLst>
          </p:cNvPr>
          <p:cNvSpPr txBox="1"/>
          <p:nvPr/>
        </p:nvSpPr>
        <p:spPr>
          <a:xfrm>
            <a:off x="3733800" y="4343400"/>
            <a:ext cx="227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use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6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ED382AC-B101-76E2-5B74-45E5D4379E75}"/>
              </a:ext>
            </a:extLst>
          </p:cNvPr>
          <p:cNvSpPr/>
          <p:nvPr/>
        </p:nvSpPr>
        <p:spPr>
          <a:xfrm>
            <a:off x="7414260" y="4251960"/>
            <a:ext cx="64389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D784006-CAC7-293E-4170-FF62624B023C}"/>
              </a:ext>
            </a:extLst>
          </p:cNvPr>
          <p:cNvSpPr/>
          <p:nvPr/>
        </p:nvSpPr>
        <p:spPr>
          <a:xfrm>
            <a:off x="7414260" y="4251960"/>
            <a:ext cx="0" cy="9144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8FF1E783-3E08-EC49-D7C8-9E780C76E2A3}"/>
              </a:ext>
            </a:extLst>
          </p:cNvPr>
          <p:cNvSpPr/>
          <p:nvPr/>
        </p:nvSpPr>
        <p:spPr>
          <a:xfrm>
            <a:off x="6233160" y="4343400"/>
            <a:ext cx="2362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76E3320-0D37-4386-1B23-194DF4480EFD}"/>
              </a:ext>
            </a:extLst>
          </p:cNvPr>
          <p:cNvSpPr txBox="1"/>
          <p:nvPr/>
        </p:nvSpPr>
        <p:spPr>
          <a:xfrm>
            <a:off x="6278880" y="4343400"/>
            <a:ext cx="227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water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6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329AEF1C-AB0B-5326-8CAF-3273990A1F04}"/>
              </a:ext>
            </a:extLst>
          </p:cNvPr>
          <p:cNvSpPr/>
          <p:nvPr/>
        </p:nvSpPr>
        <p:spPr>
          <a:xfrm>
            <a:off x="9738360" y="370332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E1AF5A7-EB86-E34D-F453-4C9E4487C66C}"/>
              </a:ext>
            </a:extLst>
          </p:cNvPr>
          <p:cNvSpPr txBox="1"/>
          <p:nvPr/>
        </p:nvSpPr>
        <p:spPr>
          <a:xfrm>
            <a:off x="9784080" y="370332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(2° STP)</a:t>
            </a:r>
            <a:endParaRPr lang="en-US" sz="16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6EEDA615-5213-0C9E-41A3-43A8FE18D66D}"/>
              </a:ext>
            </a:extLst>
          </p:cNvPr>
          <p:cNvSpPr/>
          <p:nvPr/>
        </p:nvSpPr>
        <p:spPr>
          <a:xfrm>
            <a:off x="11372850" y="418338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C524C2E2-439C-B3E2-CC61-3393616C22C5}"/>
              </a:ext>
            </a:extLst>
          </p:cNvPr>
          <p:cNvSpPr/>
          <p:nvPr/>
        </p:nvSpPr>
        <p:spPr>
          <a:xfrm>
            <a:off x="11647170" y="370332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DC8DA07-6CF9-2CC0-B53A-5BF606CCB3E8}"/>
              </a:ext>
            </a:extLst>
          </p:cNvPr>
          <p:cNvSpPr txBox="1"/>
          <p:nvPr/>
        </p:nvSpPr>
        <p:spPr>
          <a:xfrm>
            <a:off x="11692890" y="370332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(3° TP)</a:t>
            </a:r>
            <a:endParaRPr lang="en-US" sz="16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8264BBD3-117C-6D2F-BFB0-40EFFF19CCC0}"/>
              </a:ext>
            </a:extLst>
          </p:cNvPr>
          <p:cNvSpPr/>
          <p:nvPr/>
        </p:nvSpPr>
        <p:spPr>
          <a:xfrm>
            <a:off x="13281660" y="418338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AADF381-231E-D2BC-80B9-3637568F487A}"/>
              </a:ext>
            </a:extLst>
          </p:cNvPr>
          <p:cNvSpPr/>
          <p:nvPr/>
        </p:nvSpPr>
        <p:spPr>
          <a:xfrm>
            <a:off x="13555980" y="370332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E7F0E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E90A2F67-9B0F-0D6F-8D31-576CE9FD4392}"/>
              </a:ext>
            </a:extLst>
          </p:cNvPr>
          <p:cNvSpPr txBox="1"/>
          <p:nvPr/>
        </p:nvSpPr>
        <p:spPr>
          <a:xfrm>
            <a:off x="13601700" y="370332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Sump</a:t>
            </a:r>
            <a:endParaRPr lang="en-US" sz="16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D2B0BFE1-E14E-0755-0BED-A68497019FEE}"/>
              </a:ext>
            </a:extLst>
          </p:cNvPr>
          <p:cNvSpPr/>
          <p:nvPr/>
        </p:nvSpPr>
        <p:spPr>
          <a:xfrm>
            <a:off x="15190470" y="418338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226FB26-D804-7BF3-0E95-47681020B52F}"/>
              </a:ext>
            </a:extLst>
          </p:cNvPr>
          <p:cNvSpPr/>
          <p:nvPr/>
        </p:nvSpPr>
        <p:spPr>
          <a:xfrm>
            <a:off x="15464790" y="370332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BEEE7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E616D11-A2C7-8491-A84F-AC1E05820C30}"/>
              </a:ext>
            </a:extLst>
          </p:cNvPr>
          <p:cNvSpPr txBox="1"/>
          <p:nvPr/>
        </p:nvSpPr>
        <p:spPr>
          <a:xfrm>
            <a:off x="15510510" y="370332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16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1363FFC0-2168-F862-CF74-0362BE2A0610}"/>
              </a:ext>
            </a:extLst>
          </p:cNvPr>
          <p:cNvSpPr/>
          <p:nvPr/>
        </p:nvSpPr>
        <p:spPr>
          <a:xfrm>
            <a:off x="118872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FAD9398B-E10C-3C22-3503-3B6095B907A4}"/>
              </a:ext>
            </a:extLst>
          </p:cNvPr>
          <p:cNvSpPr txBox="1"/>
          <p:nvPr/>
        </p:nvSpPr>
        <p:spPr>
          <a:xfrm>
            <a:off x="123444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(2° STP)</a:t>
            </a:r>
            <a:endParaRPr lang="en-US" sz="160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8939F14D-419E-BF27-98B0-D70AE77D1073}"/>
              </a:ext>
            </a:extLst>
          </p:cNvPr>
          <p:cNvSpPr/>
          <p:nvPr/>
        </p:nvSpPr>
        <p:spPr>
          <a:xfrm>
            <a:off x="282321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14FAF5E7-05C1-5FF4-47B6-52B94ADFCC87}"/>
              </a:ext>
            </a:extLst>
          </p:cNvPr>
          <p:cNvSpPr/>
          <p:nvPr/>
        </p:nvSpPr>
        <p:spPr>
          <a:xfrm>
            <a:off x="309753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66327570-8D14-F133-F83D-2D9101CA36F2}"/>
              </a:ext>
            </a:extLst>
          </p:cNvPr>
          <p:cNvSpPr txBox="1"/>
          <p:nvPr/>
        </p:nvSpPr>
        <p:spPr>
          <a:xfrm>
            <a:off x="314325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(3° TP)</a:t>
            </a:r>
            <a:endParaRPr lang="en-US" sz="16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C4EDAFDD-B6A1-692F-0EEF-68FE64E23803}"/>
              </a:ext>
            </a:extLst>
          </p:cNvPr>
          <p:cNvSpPr/>
          <p:nvPr/>
        </p:nvSpPr>
        <p:spPr>
          <a:xfrm>
            <a:off x="473202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54DFA11D-984F-7F27-9AA1-C9742E041E7F}"/>
              </a:ext>
            </a:extLst>
          </p:cNvPr>
          <p:cNvSpPr/>
          <p:nvPr/>
        </p:nvSpPr>
        <p:spPr>
          <a:xfrm>
            <a:off x="500634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E7F0E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18F6A03D-35DF-3C34-3465-56BFAB3A3830}"/>
              </a:ext>
            </a:extLst>
          </p:cNvPr>
          <p:cNvSpPr txBox="1"/>
          <p:nvPr/>
        </p:nvSpPr>
        <p:spPr>
          <a:xfrm>
            <a:off x="505206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Sump</a:t>
            </a:r>
            <a:endParaRPr lang="en-US" sz="16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8A2A4D5D-3015-3B5B-D8AB-422F6FB36C48}"/>
              </a:ext>
            </a:extLst>
          </p:cNvPr>
          <p:cNvSpPr/>
          <p:nvPr/>
        </p:nvSpPr>
        <p:spPr>
          <a:xfrm>
            <a:off x="664083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195A864F-8A38-301B-3213-9E0A0D21253C}"/>
              </a:ext>
            </a:extLst>
          </p:cNvPr>
          <p:cNvSpPr/>
          <p:nvPr/>
        </p:nvSpPr>
        <p:spPr>
          <a:xfrm>
            <a:off x="691515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BEEE7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59DE2FA2-8A48-97DD-B355-42977047DF37}"/>
              </a:ext>
            </a:extLst>
          </p:cNvPr>
          <p:cNvSpPr txBox="1"/>
          <p:nvPr/>
        </p:nvSpPr>
        <p:spPr>
          <a:xfrm>
            <a:off x="696087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Watering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parks</a:t>
            </a:r>
            <a:endParaRPr lang="en-US" sz="16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E9076C66-3F0A-B95E-0B54-4E3A793AEAFF}"/>
              </a:ext>
            </a:extLst>
          </p:cNvPr>
          <p:cNvSpPr/>
          <p:nvPr/>
        </p:nvSpPr>
        <p:spPr>
          <a:xfrm>
            <a:off x="973836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98C1D0C8-9D41-C50B-F6B3-8A5053134931}"/>
              </a:ext>
            </a:extLst>
          </p:cNvPr>
          <p:cNvSpPr txBox="1"/>
          <p:nvPr/>
        </p:nvSpPr>
        <p:spPr>
          <a:xfrm>
            <a:off x="978408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(2° STP)</a:t>
            </a:r>
            <a:endParaRPr lang="en-US" sz="160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4976F95E-F094-87DE-37AC-C0A5356B1AEA}"/>
              </a:ext>
            </a:extLst>
          </p:cNvPr>
          <p:cNvSpPr/>
          <p:nvPr/>
        </p:nvSpPr>
        <p:spPr>
          <a:xfrm>
            <a:off x="1137285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A2AB0F1D-6D0F-9B4D-6C21-1B4E4219603F}"/>
              </a:ext>
            </a:extLst>
          </p:cNvPr>
          <p:cNvSpPr/>
          <p:nvPr/>
        </p:nvSpPr>
        <p:spPr>
          <a:xfrm>
            <a:off x="1164717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4C5044CA-57BC-8B5F-BEAC-B3435A039C4C}"/>
              </a:ext>
            </a:extLst>
          </p:cNvPr>
          <p:cNvSpPr txBox="1"/>
          <p:nvPr/>
        </p:nvSpPr>
        <p:spPr>
          <a:xfrm>
            <a:off x="1169289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treatment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(3° TP)</a:t>
            </a:r>
            <a:endParaRPr lang="en-US" sz="16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34CA9DA3-ADE9-45A0-B9E3-72759E6B9BF7}"/>
              </a:ext>
            </a:extLst>
          </p:cNvPr>
          <p:cNvSpPr/>
          <p:nvPr/>
        </p:nvSpPr>
        <p:spPr>
          <a:xfrm>
            <a:off x="1328166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B1F08D77-2781-7C3B-DE4C-4FB8E51C41C8}"/>
              </a:ext>
            </a:extLst>
          </p:cNvPr>
          <p:cNvSpPr/>
          <p:nvPr/>
        </p:nvSpPr>
        <p:spPr>
          <a:xfrm>
            <a:off x="1355598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E7F0EF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3C2203B7-4FA6-331F-51BB-7C19E1412D7F}"/>
              </a:ext>
            </a:extLst>
          </p:cNvPr>
          <p:cNvSpPr txBox="1"/>
          <p:nvPr/>
        </p:nvSpPr>
        <p:spPr>
          <a:xfrm>
            <a:off x="1360170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Sump</a:t>
            </a:r>
            <a:endParaRPr lang="en-US" sz="160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E8CC5A92-2654-70A3-AC12-5207AF1819CC}"/>
              </a:ext>
            </a:extLst>
          </p:cNvPr>
          <p:cNvSpPr/>
          <p:nvPr/>
        </p:nvSpPr>
        <p:spPr>
          <a:xfrm>
            <a:off x="15190470" y="8481060"/>
            <a:ext cx="274320" cy="0"/>
          </a:xfrm>
          <a:prstGeom prst="line">
            <a:avLst/>
          </a:prstGeom>
          <a:noFill/>
          <a:ln w="22225">
            <a:solidFill>
              <a:srgbClr val="5B6B6E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56AB2F26-B703-57A9-B8B8-4FD1CA5F77E6}"/>
              </a:ext>
            </a:extLst>
          </p:cNvPr>
          <p:cNvSpPr/>
          <p:nvPr/>
        </p:nvSpPr>
        <p:spPr>
          <a:xfrm>
            <a:off x="15464790" y="8001000"/>
            <a:ext cx="1634490" cy="960120"/>
          </a:xfrm>
          <a:prstGeom prst="roundRect">
            <a:avLst>
              <a:gd name="adj" fmla="val 7619"/>
            </a:avLst>
          </a:prstGeom>
          <a:solidFill>
            <a:srgbClr val="FBEEE7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AB63B07D-462A-FC1E-1692-C5D703119756}"/>
              </a:ext>
            </a:extLst>
          </p:cNvPr>
          <p:cNvSpPr txBox="1"/>
          <p:nvPr/>
        </p:nvSpPr>
        <p:spPr>
          <a:xfrm>
            <a:off x="15510510" y="8001000"/>
            <a:ext cx="15430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water</a:t>
            </a:r>
            <a:endParaRPr lang="en-US" sz="1600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7A681CEC-9F27-2FBC-66C8-3C3E556EF4A0}"/>
              </a:ext>
            </a:extLst>
          </p:cNvPr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6C0D917-6FAE-B47E-E8C2-999D1097C8C9}"/>
              </a:ext>
            </a:extLst>
          </p:cNvPr>
          <p:cNvGrpSpPr/>
          <p:nvPr/>
        </p:nvGrpSpPr>
        <p:grpSpPr>
          <a:xfrm>
            <a:off x="4330700" y="2028802"/>
            <a:ext cx="1735867" cy="719259"/>
            <a:chOff x="2225740" y="3611880"/>
            <a:chExt cx="2317164" cy="960120"/>
          </a:xfrm>
        </p:grpSpPr>
        <p:sp>
          <p:nvSpPr>
            <p:cNvPr id="86" name="Shape 7">
              <a:extLst>
                <a:ext uri="{FF2B5EF4-FFF2-40B4-BE49-F238E27FC236}">
                  <a16:creationId xmlns:a16="http://schemas.microsoft.com/office/drawing/2014/main" id="{A39543F1-FD4D-AC57-7539-88C62DED428E}"/>
                </a:ext>
              </a:extLst>
            </p:cNvPr>
            <p:cNvSpPr/>
            <p:nvPr/>
          </p:nvSpPr>
          <p:spPr>
            <a:xfrm>
              <a:off x="2225740" y="3657600"/>
              <a:ext cx="868680" cy="868680"/>
            </a:xfrm>
            <a:prstGeom prst="ellipse">
              <a:avLst/>
            </a:prstGeom>
            <a:solidFill>
              <a:srgbClr val="E7F0EF"/>
            </a:solidFill>
            <a:ln/>
          </p:spPr>
          <p:txBody>
            <a:bodyPr/>
            <a:lstStyle/>
            <a:p>
              <a:endParaRPr lang="en-NL"/>
            </a:p>
          </p:txBody>
        </p:sp>
        <p:pic>
          <p:nvPicPr>
            <p:cNvPr id="87" name="Image 1" descr="/home/claude/deck_build/icons/home_teal.png">
              <a:extLst>
                <a:ext uri="{FF2B5EF4-FFF2-40B4-BE49-F238E27FC236}">
                  <a16:creationId xmlns:a16="http://schemas.microsoft.com/office/drawing/2014/main" id="{BBAA965F-73BF-B9A8-A36D-1405EDF6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34223" y="3866083"/>
              <a:ext cx="451714" cy="451714"/>
            </a:xfrm>
            <a:prstGeom prst="rect">
              <a:avLst/>
            </a:prstGeom>
          </p:spPr>
        </p:pic>
        <p:sp>
          <p:nvSpPr>
            <p:cNvPr id="88" name="Text 8">
              <a:extLst>
                <a:ext uri="{FF2B5EF4-FFF2-40B4-BE49-F238E27FC236}">
                  <a16:creationId xmlns:a16="http://schemas.microsoft.com/office/drawing/2014/main" id="{DC00A83E-AAB1-0D2A-3397-06C113D13F2F}"/>
                </a:ext>
              </a:extLst>
            </p:cNvPr>
            <p:cNvSpPr txBox="1"/>
            <p:nvPr/>
          </p:nvSpPr>
          <p:spPr>
            <a:xfrm>
              <a:off x="3254440" y="3611880"/>
              <a:ext cx="1288464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1B2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Residents</a:t>
              </a:r>
              <a:endParaRPr lang="en-US" sz="20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7E1D73B-D54C-CE71-1E77-8580A2A7ED7B}"/>
              </a:ext>
            </a:extLst>
          </p:cNvPr>
          <p:cNvGrpSpPr/>
          <p:nvPr/>
        </p:nvGrpSpPr>
        <p:grpSpPr>
          <a:xfrm>
            <a:off x="10668287" y="2241658"/>
            <a:ext cx="2750533" cy="960120"/>
            <a:chOff x="10775378" y="3017520"/>
            <a:chExt cx="2750531" cy="960120"/>
          </a:xfrm>
        </p:grpSpPr>
        <p:sp>
          <p:nvSpPr>
            <p:cNvPr id="90" name="Shape 14">
              <a:extLst>
                <a:ext uri="{FF2B5EF4-FFF2-40B4-BE49-F238E27FC236}">
                  <a16:creationId xmlns:a16="http://schemas.microsoft.com/office/drawing/2014/main" id="{C963D045-5BB5-3A1C-0ECD-032E9429819F}"/>
                </a:ext>
              </a:extLst>
            </p:cNvPr>
            <p:cNvSpPr/>
            <p:nvPr/>
          </p:nvSpPr>
          <p:spPr>
            <a:xfrm>
              <a:off x="10775378" y="3063240"/>
              <a:ext cx="868680" cy="868680"/>
            </a:xfrm>
            <a:prstGeom prst="ellipse">
              <a:avLst/>
            </a:prstGeom>
            <a:solidFill>
              <a:srgbClr val="E7F0EF"/>
            </a:solidFill>
            <a:ln/>
          </p:spPr>
          <p:txBody>
            <a:bodyPr/>
            <a:lstStyle/>
            <a:p>
              <a:endParaRPr lang="en-NL"/>
            </a:p>
          </p:txBody>
        </p:sp>
        <p:pic>
          <p:nvPicPr>
            <p:cNvPr id="91" name="Image 3" descr="/home/claude/deck_build/icons/users_teal.png">
              <a:extLst>
                <a:ext uri="{FF2B5EF4-FFF2-40B4-BE49-F238E27FC236}">
                  <a16:creationId xmlns:a16="http://schemas.microsoft.com/office/drawing/2014/main" id="{2BB9D053-40BF-66D0-0ABA-B1D88637A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83863" y="3271723"/>
              <a:ext cx="451714" cy="451714"/>
            </a:xfrm>
            <a:prstGeom prst="rect">
              <a:avLst/>
            </a:prstGeom>
          </p:spPr>
        </p:pic>
        <p:sp>
          <p:nvSpPr>
            <p:cNvPr id="92" name="Text 15">
              <a:extLst>
                <a:ext uri="{FF2B5EF4-FFF2-40B4-BE49-F238E27FC236}">
                  <a16:creationId xmlns:a16="http://schemas.microsoft.com/office/drawing/2014/main" id="{56CF28D4-32A5-EB0F-C873-CDBF962A3D67}"/>
                </a:ext>
              </a:extLst>
            </p:cNvPr>
            <p:cNvSpPr txBox="1"/>
            <p:nvPr/>
          </p:nvSpPr>
          <p:spPr>
            <a:xfrm>
              <a:off x="11804080" y="3017520"/>
              <a:ext cx="1721829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B2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Farm workers</a:t>
              </a:r>
              <a:endParaRPr lang="en-US" sz="2000" dirty="0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BF40A6D-12EF-459E-D604-35C4FF885A28}"/>
              </a:ext>
            </a:extLst>
          </p:cNvPr>
          <p:cNvGrpSpPr/>
          <p:nvPr/>
        </p:nvGrpSpPr>
        <p:grpSpPr>
          <a:xfrm>
            <a:off x="2193752" y="6719621"/>
            <a:ext cx="2531455" cy="960120"/>
            <a:chOff x="2225740" y="4800600"/>
            <a:chExt cx="2531455" cy="960120"/>
          </a:xfrm>
        </p:grpSpPr>
        <p:sp>
          <p:nvSpPr>
            <p:cNvPr id="94" name="Shape 9">
              <a:extLst>
                <a:ext uri="{FF2B5EF4-FFF2-40B4-BE49-F238E27FC236}">
                  <a16:creationId xmlns:a16="http://schemas.microsoft.com/office/drawing/2014/main" id="{D07DC21A-379A-082D-FBA7-1198B40C89D9}"/>
                </a:ext>
              </a:extLst>
            </p:cNvPr>
            <p:cNvSpPr/>
            <p:nvPr/>
          </p:nvSpPr>
          <p:spPr>
            <a:xfrm>
              <a:off x="2225740" y="4846320"/>
              <a:ext cx="868680" cy="868680"/>
            </a:xfrm>
            <a:prstGeom prst="ellipse">
              <a:avLst/>
            </a:prstGeom>
            <a:solidFill>
              <a:srgbClr val="E7F0EF"/>
            </a:solidFill>
            <a:ln/>
          </p:spPr>
          <p:txBody>
            <a:bodyPr/>
            <a:lstStyle/>
            <a:p>
              <a:endParaRPr lang="en-NL"/>
            </a:p>
          </p:txBody>
        </p:sp>
        <p:pic>
          <p:nvPicPr>
            <p:cNvPr id="95" name="Image 2" descr="/home/claude/deck_build/icons/hiking_teal.png">
              <a:extLst>
                <a:ext uri="{FF2B5EF4-FFF2-40B4-BE49-F238E27FC236}">
                  <a16:creationId xmlns:a16="http://schemas.microsoft.com/office/drawing/2014/main" id="{ED04DBBF-B7C3-EF8F-F4DB-97147DBDD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34223" y="5054803"/>
              <a:ext cx="451714" cy="451714"/>
            </a:xfrm>
            <a:prstGeom prst="rect">
              <a:avLst/>
            </a:prstGeom>
          </p:spPr>
        </p:pic>
        <p:sp>
          <p:nvSpPr>
            <p:cNvPr id="96" name="Text 10">
              <a:extLst>
                <a:ext uri="{FF2B5EF4-FFF2-40B4-BE49-F238E27FC236}">
                  <a16:creationId xmlns:a16="http://schemas.microsoft.com/office/drawing/2014/main" id="{DD059C2A-4EE4-7FC8-37DB-76E5EAE612B0}"/>
                </a:ext>
              </a:extLst>
            </p:cNvPr>
            <p:cNvSpPr txBox="1"/>
            <p:nvPr/>
          </p:nvSpPr>
          <p:spPr>
            <a:xfrm>
              <a:off x="3254440" y="4800600"/>
              <a:ext cx="1502755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B2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Recreationists</a:t>
              </a:r>
              <a:endParaRPr lang="en-US" sz="2000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8036185-2CD7-3221-1209-AB882B21343D}"/>
              </a:ext>
            </a:extLst>
          </p:cNvPr>
          <p:cNvGrpSpPr/>
          <p:nvPr/>
        </p:nvGrpSpPr>
        <p:grpSpPr>
          <a:xfrm>
            <a:off x="5374591" y="6729984"/>
            <a:ext cx="2414840" cy="960120"/>
            <a:chOff x="2225740" y="8503920"/>
            <a:chExt cx="2414840" cy="960120"/>
          </a:xfrm>
        </p:grpSpPr>
        <p:sp>
          <p:nvSpPr>
            <p:cNvPr id="98" name="Shape 23">
              <a:extLst>
                <a:ext uri="{FF2B5EF4-FFF2-40B4-BE49-F238E27FC236}">
                  <a16:creationId xmlns:a16="http://schemas.microsoft.com/office/drawing/2014/main" id="{A0039A1C-87A4-5482-FC9A-C065980B7D02}"/>
                </a:ext>
              </a:extLst>
            </p:cNvPr>
            <p:cNvSpPr/>
            <p:nvPr/>
          </p:nvSpPr>
          <p:spPr>
            <a:xfrm>
              <a:off x="2225740" y="8549640"/>
              <a:ext cx="868680" cy="868680"/>
            </a:xfrm>
            <a:prstGeom prst="ellipse">
              <a:avLst/>
            </a:prstGeom>
            <a:solidFill>
              <a:srgbClr val="E7F0EF"/>
            </a:solidFill>
            <a:ln/>
          </p:spPr>
          <p:txBody>
            <a:bodyPr/>
            <a:lstStyle/>
            <a:p>
              <a:endParaRPr lang="en-NL"/>
            </a:p>
          </p:txBody>
        </p:sp>
        <p:pic>
          <p:nvPicPr>
            <p:cNvPr id="99" name="Image 6" descr="/home/claude/deck_build/icons/hardhat_teal.png">
              <a:extLst>
                <a:ext uri="{FF2B5EF4-FFF2-40B4-BE49-F238E27FC236}">
                  <a16:creationId xmlns:a16="http://schemas.microsoft.com/office/drawing/2014/main" id="{0DCC481D-6D7A-4D81-60E8-9303AFF93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4223" y="8758123"/>
              <a:ext cx="451714" cy="451714"/>
            </a:xfrm>
            <a:prstGeom prst="rect">
              <a:avLst/>
            </a:prstGeom>
          </p:spPr>
        </p:pic>
        <p:sp>
          <p:nvSpPr>
            <p:cNvPr id="100" name="Text 24">
              <a:extLst>
                <a:ext uri="{FF2B5EF4-FFF2-40B4-BE49-F238E27FC236}">
                  <a16:creationId xmlns:a16="http://schemas.microsoft.com/office/drawing/2014/main" id="{E9B78A42-C621-0850-E887-307558041D59}"/>
                </a:ext>
              </a:extLst>
            </p:cNvPr>
            <p:cNvSpPr txBox="1"/>
            <p:nvPr/>
          </p:nvSpPr>
          <p:spPr>
            <a:xfrm>
              <a:off x="3254440" y="8503920"/>
              <a:ext cx="138614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B2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Park workers</a:t>
              </a:r>
              <a:endParaRPr lang="en-US" sz="200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5A18374-B747-564B-BAA7-0CBE9B9B2415}"/>
              </a:ext>
            </a:extLst>
          </p:cNvPr>
          <p:cNvGrpSpPr/>
          <p:nvPr/>
        </p:nvGrpSpPr>
        <p:grpSpPr>
          <a:xfrm>
            <a:off x="10742440" y="6648271"/>
            <a:ext cx="3071666" cy="960119"/>
            <a:chOff x="10775380" y="7909560"/>
            <a:chExt cx="3071669" cy="960120"/>
          </a:xfrm>
        </p:grpSpPr>
        <p:sp>
          <p:nvSpPr>
            <p:cNvPr id="102" name="Shape 28">
              <a:extLst>
                <a:ext uri="{FF2B5EF4-FFF2-40B4-BE49-F238E27FC236}">
                  <a16:creationId xmlns:a16="http://schemas.microsoft.com/office/drawing/2014/main" id="{484DC9B2-3E72-548B-32DC-26A92FFFFB50}"/>
                </a:ext>
              </a:extLst>
            </p:cNvPr>
            <p:cNvSpPr/>
            <p:nvPr/>
          </p:nvSpPr>
          <p:spPr>
            <a:xfrm>
              <a:off x="10775380" y="7955280"/>
              <a:ext cx="868680" cy="868680"/>
            </a:xfrm>
            <a:prstGeom prst="ellipse">
              <a:avLst/>
            </a:prstGeom>
            <a:solidFill>
              <a:srgbClr val="E7F0EF"/>
            </a:solidFill>
            <a:ln/>
          </p:spPr>
          <p:txBody>
            <a:bodyPr/>
            <a:lstStyle/>
            <a:p>
              <a:endParaRPr lang="en-NL"/>
            </a:p>
          </p:txBody>
        </p:sp>
        <p:pic>
          <p:nvPicPr>
            <p:cNvPr id="103" name="Image 7" descr="/home/claude/deck_build/icons/hardhat_teal.png">
              <a:extLst>
                <a:ext uri="{FF2B5EF4-FFF2-40B4-BE49-F238E27FC236}">
                  <a16:creationId xmlns:a16="http://schemas.microsoft.com/office/drawing/2014/main" id="{22FA7A48-0BE6-CF61-B139-3C89801A1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983863" y="8163763"/>
              <a:ext cx="451714" cy="451714"/>
            </a:xfrm>
            <a:prstGeom prst="rect">
              <a:avLst/>
            </a:prstGeom>
          </p:spPr>
        </p:pic>
        <p:sp>
          <p:nvSpPr>
            <p:cNvPr id="104" name="Text 29">
              <a:extLst>
                <a:ext uri="{FF2B5EF4-FFF2-40B4-BE49-F238E27FC236}">
                  <a16:creationId xmlns:a16="http://schemas.microsoft.com/office/drawing/2014/main" id="{7A17062B-F39F-E165-2CCE-5D1E1D32B42D}"/>
                </a:ext>
              </a:extLst>
            </p:cNvPr>
            <p:cNvSpPr txBox="1"/>
            <p:nvPr/>
          </p:nvSpPr>
          <p:spPr>
            <a:xfrm>
              <a:off x="11804080" y="7909560"/>
              <a:ext cx="2042969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B2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Industrial workers</a:t>
              </a:r>
              <a:endParaRPr lang="en-US" sz="2000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B5A237F-F434-F942-7575-D3177127897D}"/>
              </a:ext>
            </a:extLst>
          </p:cNvPr>
          <p:cNvGrpSpPr/>
          <p:nvPr/>
        </p:nvGrpSpPr>
        <p:grpSpPr>
          <a:xfrm>
            <a:off x="2057400" y="2002782"/>
            <a:ext cx="2301240" cy="803287"/>
            <a:chOff x="10775378" y="3017520"/>
            <a:chExt cx="2750531" cy="960120"/>
          </a:xfrm>
        </p:grpSpPr>
        <p:sp>
          <p:nvSpPr>
            <p:cNvPr id="106" name="Shape 14">
              <a:extLst>
                <a:ext uri="{FF2B5EF4-FFF2-40B4-BE49-F238E27FC236}">
                  <a16:creationId xmlns:a16="http://schemas.microsoft.com/office/drawing/2014/main" id="{A8F3193E-1C26-0D35-14D7-A998D922404B}"/>
                </a:ext>
              </a:extLst>
            </p:cNvPr>
            <p:cNvSpPr/>
            <p:nvPr/>
          </p:nvSpPr>
          <p:spPr>
            <a:xfrm>
              <a:off x="10775378" y="3063240"/>
              <a:ext cx="868680" cy="868680"/>
            </a:xfrm>
            <a:prstGeom prst="ellipse">
              <a:avLst/>
            </a:prstGeom>
            <a:solidFill>
              <a:srgbClr val="E7F0EF"/>
            </a:solidFill>
            <a:ln/>
          </p:spPr>
          <p:txBody>
            <a:bodyPr/>
            <a:lstStyle/>
            <a:p>
              <a:endParaRPr lang="en-NL"/>
            </a:p>
          </p:txBody>
        </p:sp>
        <p:pic>
          <p:nvPicPr>
            <p:cNvPr id="107" name="Image 3" descr="/home/claude/deck_build/icons/users_teal.png">
              <a:extLst>
                <a:ext uri="{FF2B5EF4-FFF2-40B4-BE49-F238E27FC236}">
                  <a16:creationId xmlns:a16="http://schemas.microsoft.com/office/drawing/2014/main" id="{328F55B7-1464-A4D8-D8CD-97CA4133A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83863" y="3271723"/>
              <a:ext cx="451714" cy="451714"/>
            </a:xfrm>
            <a:prstGeom prst="rect">
              <a:avLst/>
            </a:prstGeom>
          </p:spPr>
        </p:pic>
        <p:sp>
          <p:nvSpPr>
            <p:cNvPr id="108" name="Text 15">
              <a:extLst>
                <a:ext uri="{FF2B5EF4-FFF2-40B4-BE49-F238E27FC236}">
                  <a16:creationId xmlns:a16="http://schemas.microsoft.com/office/drawing/2014/main" id="{2A28A791-FC01-55A9-CD36-BA7922FA038C}"/>
                </a:ext>
              </a:extLst>
            </p:cNvPr>
            <p:cNvSpPr txBox="1"/>
            <p:nvPr/>
          </p:nvSpPr>
          <p:spPr>
            <a:xfrm>
              <a:off x="11804080" y="3017520"/>
              <a:ext cx="1721829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1B2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Farm workers</a:t>
              </a:r>
              <a:endParaRPr lang="en-US" dirty="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5CB1D13-8A06-1AD7-7046-633FD2C6D3BA}"/>
              </a:ext>
            </a:extLst>
          </p:cNvPr>
          <p:cNvGrpSpPr/>
          <p:nvPr/>
        </p:nvGrpSpPr>
        <p:grpSpPr>
          <a:xfrm>
            <a:off x="6255205" y="2036162"/>
            <a:ext cx="2108507" cy="722577"/>
            <a:chOff x="2225740" y="4800600"/>
            <a:chExt cx="2801667" cy="960120"/>
          </a:xfrm>
        </p:grpSpPr>
        <p:sp>
          <p:nvSpPr>
            <p:cNvPr id="110" name="Shape 9">
              <a:extLst>
                <a:ext uri="{FF2B5EF4-FFF2-40B4-BE49-F238E27FC236}">
                  <a16:creationId xmlns:a16="http://schemas.microsoft.com/office/drawing/2014/main" id="{2CF742DE-676C-16D6-A494-5949048D3E10}"/>
                </a:ext>
              </a:extLst>
            </p:cNvPr>
            <p:cNvSpPr/>
            <p:nvPr/>
          </p:nvSpPr>
          <p:spPr>
            <a:xfrm>
              <a:off x="2225740" y="4846320"/>
              <a:ext cx="868680" cy="868680"/>
            </a:xfrm>
            <a:prstGeom prst="ellipse">
              <a:avLst/>
            </a:prstGeom>
            <a:solidFill>
              <a:srgbClr val="E7F0EF"/>
            </a:solidFill>
            <a:ln/>
          </p:spPr>
          <p:txBody>
            <a:bodyPr/>
            <a:lstStyle/>
            <a:p>
              <a:endParaRPr lang="en-NL"/>
            </a:p>
          </p:txBody>
        </p:sp>
        <p:pic>
          <p:nvPicPr>
            <p:cNvPr id="111" name="Image 2" descr="/home/claude/deck_build/icons/hiking_teal.png">
              <a:extLst>
                <a:ext uri="{FF2B5EF4-FFF2-40B4-BE49-F238E27FC236}">
                  <a16:creationId xmlns:a16="http://schemas.microsoft.com/office/drawing/2014/main" id="{B4EA056E-5138-0712-7EE7-131A1A834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34223" y="5054803"/>
              <a:ext cx="451714" cy="451714"/>
            </a:xfrm>
            <a:prstGeom prst="rect">
              <a:avLst/>
            </a:prstGeom>
          </p:spPr>
        </p:pic>
        <p:sp>
          <p:nvSpPr>
            <p:cNvPr id="112" name="Text 10">
              <a:extLst>
                <a:ext uri="{FF2B5EF4-FFF2-40B4-BE49-F238E27FC236}">
                  <a16:creationId xmlns:a16="http://schemas.microsoft.com/office/drawing/2014/main" id="{121D9795-DE17-6A34-7342-06F156F00839}"/>
                </a:ext>
              </a:extLst>
            </p:cNvPr>
            <p:cNvSpPr txBox="1"/>
            <p:nvPr/>
          </p:nvSpPr>
          <p:spPr>
            <a:xfrm>
              <a:off x="3254438" y="4800600"/>
              <a:ext cx="1772969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1B2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Recreationists</a:t>
              </a:r>
              <a:endParaRPr lang="en-US" dirty="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3F885A1-E56A-3830-31CF-8576BB7DE17E}"/>
              </a:ext>
            </a:extLst>
          </p:cNvPr>
          <p:cNvGrpSpPr/>
          <p:nvPr/>
        </p:nvGrpSpPr>
        <p:grpSpPr>
          <a:xfrm>
            <a:off x="13642574" y="2268001"/>
            <a:ext cx="3370111" cy="960120"/>
            <a:chOff x="10775380" y="4206240"/>
            <a:chExt cx="3370111" cy="960120"/>
          </a:xfrm>
        </p:grpSpPr>
        <p:sp>
          <p:nvSpPr>
            <p:cNvPr id="114" name="Shape 16">
              <a:extLst>
                <a:ext uri="{FF2B5EF4-FFF2-40B4-BE49-F238E27FC236}">
                  <a16:creationId xmlns:a16="http://schemas.microsoft.com/office/drawing/2014/main" id="{705605C5-C166-4FD2-6118-EB4536F128E7}"/>
                </a:ext>
              </a:extLst>
            </p:cNvPr>
            <p:cNvSpPr/>
            <p:nvPr/>
          </p:nvSpPr>
          <p:spPr>
            <a:xfrm>
              <a:off x="10775380" y="4251960"/>
              <a:ext cx="868680" cy="868680"/>
            </a:xfrm>
            <a:prstGeom prst="ellipse">
              <a:avLst/>
            </a:prstGeom>
            <a:solidFill>
              <a:srgbClr val="E7F0EF"/>
            </a:solidFill>
            <a:ln/>
          </p:spPr>
          <p:txBody>
            <a:bodyPr/>
            <a:lstStyle/>
            <a:p>
              <a:endParaRPr lang="en-NL"/>
            </a:p>
          </p:txBody>
        </p:sp>
        <p:pic>
          <p:nvPicPr>
            <p:cNvPr id="115" name="Image 4" descr="/home/claude/deck_build/icons/basket_teal.png">
              <a:extLst>
                <a:ext uri="{FF2B5EF4-FFF2-40B4-BE49-F238E27FC236}">
                  <a16:creationId xmlns:a16="http://schemas.microsoft.com/office/drawing/2014/main" id="{12EA016B-FF6E-C782-0AE4-F1645F875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83863" y="4460443"/>
              <a:ext cx="451714" cy="451714"/>
            </a:xfrm>
            <a:prstGeom prst="rect">
              <a:avLst/>
            </a:prstGeom>
          </p:spPr>
        </p:pic>
        <p:sp>
          <p:nvSpPr>
            <p:cNvPr id="116" name="Text 17">
              <a:extLst>
                <a:ext uri="{FF2B5EF4-FFF2-40B4-BE49-F238E27FC236}">
                  <a16:creationId xmlns:a16="http://schemas.microsoft.com/office/drawing/2014/main" id="{CE3B5BAD-FD13-32ED-1EBC-5B097EE37AD4}"/>
                </a:ext>
              </a:extLst>
            </p:cNvPr>
            <p:cNvSpPr txBox="1"/>
            <p:nvPr/>
          </p:nvSpPr>
          <p:spPr>
            <a:xfrm>
              <a:off x="11804080" y="4206240"/>
              <a:ext cx="2341411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B2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Consumers of produce</a:t>
              </a:r>
              <a:endParaRPr lang="en-US" sz="2000" dirty="0"/>
            </a:p>
          </p:txBody>
        </p:sp>
      </p:grpSp>
      <p:sp>
        <p:nvSpPr>
          <p:cNvPr id="82" name="Text 77">
            <a:extLst>
              <a:ext uri="{FF2B5EF4-FFF2-40B4-BE49-F238E27FC236}">
                <a16:creationId xmlns:a16="http://schemas.microsoft.com/office/drawing/2014/main" id="{BD4CC56E-E588-4D3F-1E9A-9D3DDF271D90}"/>
              </a:ext>
            </a:extLst>
          </p:cNvPr>
          <p:cNvSpPr txBox="1"/>
          <p:nvPr/>
        </p:nvSpPr>
        <p:spPr>
          <a:xfrm>
            <a:off x="9578340" y="9601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and Singhal, 2024</a:t>
            </a:r>
            <a:endParaRPr lang="en-US" sz="1100" dirty="0"/>
          </a:p>
        </p:txBody>
      </p:sp>
      <p:sp>
        <p:nvSpPr>
          <p:cNvPr id="84" name="Text 77">
            <a:extLst>
              <a:ext uri="{FF2B5EF4-FFF2-40B4-BE49-F238E27FC236}">
                <a16:creationId xmlns:a16="http://schemas.microsoft.com/office/drawing/2014/main" id="{FC8C96DB-8307-3FB5-7476-873993AE4185}"/>
              </a:ext>
            </a:extLst>
          </p:cNvPr>
          <p:cNvSpPr txBox="1"/>
          <p:nvPr/>
        </p:nvSpPr>
        <p:spPr>
          <a:xfrm>
            <a:off x="1065276" y="539496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and Singhal, 2024</a:t>
            </a:r>
            <a:endParaRPr lang="en-US" sz="1100" dirty="0"/>
          </a:p>
        </p:txBody>
      </p:sp>
      <p:sp>
        <p:nvSpPr>
          <p:cNvPr id="118" name="Text 77">
            <a:extLst>
              <a:ext uri="{FF2B5EF4-FFF2-40B4-BE49-F238E27FC236}">
                <a16:creationId xmlns:a16="http://schemas.microsoft.com/office/drawing/2014/main" id="{A45680AE-412B-CD6C-C1FA-BE30714DEED4}"/>
              </a:ext>
            </a:extLst>
          </p:cNvPr>
          <p:cNvSpPr txBox="1"/>
          <p:nvPr/>
        </p:nvSpPr>
        <p:spPr>
          <a:xfrm>
            <a:off x="9528464" y="54005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</a:t>
            </a:r>
            <a:endParaRPr lang="en-US" sz="1100" dirty="0"/>
          </a:p>
        </p:txBody>
      </p:sp>
      <p:sp>
        <p:nvSpPr>
          <p:cNvPr id="120" name="Text 77">
            <a:extLst>
              <a:ext uri="{FF2B5EF4-FFF2-40B4-BE49-F238E27FC236}">
                <a16:creationId xmlns:a16="http://schemas.microsoft.com/office/drawing/2014/main" id="{3D91ED69-BD3B-E2A1-239C-24EC4C56E80E}"/>
              </a:ext>
            </a:extLst>
          </p:cNvPr>
          <p:cNvSpPr txBox="1"/>
          <p:nvPr/>
        </p:nvSpPr>
        <p:spPr>
          <a:xfrm>
            <a:off x="1065276" y="9601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28585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 2B &amp; RQ2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664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Health Risk, and the Resulting D</a:t>
            </a:r>
            <a:r>
              <a:rPr lang="en-US" sz="28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</a:rPr>
              <a:t>iarrheal</a:t>
            </a:r>
            <a:r>
              <a:rPr lang="en-US" sz="28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Disease Burden?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71504"/>
            <a:ext cx="8046720" cy="69494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1188720" y="2337264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2F7D7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 txBox="1"/>
          <p:nvPr/>
        </p:nvSpPr>
        <p:spPr>
          <a:xfrm>
            <a:off x="1188720" y="23372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34643"/>
              </p:ext>
            </p:extLst>
          </p:nvPr>
        </p:nvGraphicFramePr>
        <p:xfrm>
          <a:off x="1090167" y="3178122"/>
          <a:ext cx="7513505" cy="3687798"/>
        </p:xfrm>
        <a:graphic>
          <a:graphicData uri="http://schemas.openxmlformats.org/drawingml/2006/table">
            <a:tbl>
              <a:tblPr/>
              <a:tblGrid>
                <a:gridCol w="2879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2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08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NL" sz="20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Diarrheal disease burden</a:t>
                      </a:r>
                      <a:r>
                        <a:rPr lang="en-US" sz="20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from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Agricultural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(DALY per year)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Non-agricultural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(DALY per year)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3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coli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3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Rotavirus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3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Campylobacter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1188720" y="7229304"/>
            <a:ext cx="7315200" cy="1325880"/>
          </a:xfrm>
          <a:prstGeom prst="roundRect">
            <a:avLst>
              <a:gd name="adj" fmla="val 6897"/>
            </a:avLst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0"/>
          <p:cNvSpPr txBox="1"/>
          <p:nvPr/>
        </p:nvSpPr>
        <p:spPr>
          <a:xfrm>
            <a:off x="1188720" y="7229304"/>
            <a:ext cx="7315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DALY per year</a:t>
            </a:r>
            <a:endParaRPr lang="en-US" sz="4600" dirty="0"/>
          </a:p>
        </p:txBody>
      </p:sp>
      <p:sp>
        <p:nvSpPr>
          <p:cNvPr id="14" name="Shape 11"/>
          <p:cNvSpPr/>
          <p:nvPr/>
        </p:nvSpPr>
        <p:spPr>
          <a:xfrm>
            <a:off x="9418320" y="1971504"/>
            <a:ext cx="8046720" cy="69494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2"/>
          <p:cNvSpPr/>
          <p:nvPr/>
        </p:nvSpPr>
        <p:spPr>
          <a:xfrm>
            <a:off x="9784080" y="2337264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B554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3"/>
          <p:cNvSpPr txBox="1"/>
          <p:nvPr/>
        </p:nvSpPr>
        <p:spPr>
          <a:xfrm>
            <a:off x="9784080" y="23372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50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994522"/>
              </p:ext>
            </p:extLst>
          </p:nvPr>
        </p:nvGraphicFramePr>
        <p:xfrm>
          <a:off x="9601200" y="3178122"/>
          <a:ext cx="7680960" cy="3685423"/>
        </p:xfrm>
        <a:graphic>
          <a:graphicData uri="http://schemas.openxmlformats.org/drawingml/2006/table">
            <a:tbl>
              <a:tblPr/>
              <a:tblGrid>
                <a:gridCol w="5153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4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NL" sz="20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Diarrheal disease burden</a:t>
                      </a:r>
                      <a:r>
                        <a:rPr lang="en-US" sz="20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from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Agricultural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(DALY per year)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8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coli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8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Rotavirus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8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Campylobacter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9784080" y="7229304"/>
            <a:ext cx="7315200" cy="1325880"/>
          </a:xfrm>
          <a:prstGeom prst="roundRect">
            <a:avLst>
              <a:gd name="adj" fmla="val 6897"/>
            </a:avLst>
          </a:prstGeom>
          <a:solidFill>
            <a:srgbClr val="F7E9E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2" name="Text 18"/>
          <p:cNvSpPr txBox="1"/>
          <p:nvPr/>
        </p:nvSpPr>
        <p:spPr>
          <a:xfrm>
            <a:off x="9784080" y="7229304"/>
            <a:ext cx="7315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</a:t>
            </a:r>
            <a:r>
              <a:rPr lang="en-US" sz="16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DALY per year</a:t>
            </a:r>
            <a:endParaRPr lang="en-US" sz="4600" dirty="0"/>
          </a:p>
        </p:txBody>
      </p:sp>
      <p:sp>
        <p:nvSpPr>
          <p:cNvPr id="23" name="Text 19"/>
          <p:cNvSpPr txBox="1"/>
          <p:nvPr/>
        </p:nvSpPr>
        <p:spPr>
          <a:xfrm>
            <a:off x="822960" y="9784080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and Singhal, 2024; WHO, 2017; George et al., 2015; Census India (n.d.)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monetary value of this disease burden?</a:t>
            </a:r>
            <a:endParaRPr lang="en-US" sz="4000" b="1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6642080" cy="1005840"/>
          </a:xfrm>
          <a:prstGeom prst="roundRect">
            <a:avLst>
              <a:gd name="adj" fmla="val 10909"/>
            </a:avLst>
          </a:prstGeom>
          <a:solidFill>
            <a:srgbClr val="E7F0E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1165860" y="24003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6" name="Image 0" descr="/home/claude/deck_build/icons/rupe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398" y="25868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2286000"/>
            <a:ext cx="1463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 </a:t>
            </a:r>
            <a:r>
              <a:rPr lang="en-US" sz="28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approach, using the GSDP per capita of Karnataka (Rs 4,77,003 in 2025-26)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822960" y="3657600"/>
            <a:ext cx="8046720" cy="29946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6"/>
          <p:cNvSpPr/>
          <p:nvPr/>
        </p:nvSpPr>
        <p:spPr>
          <a:xfrm>
            <a:off x="1280160" y="411480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2F7D7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7"/>
          <p:cNvSpPr txBox="1"/>
          <p:nvPr/>
        </p:nvSpPr>
        <p:spPr>
          <a:xfrm>
            <a:off x="1280160" y="4114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48006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DALYs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525780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</a:t>
            </a:r>
            <a:r>
              <a:rPr lang="en-US" sz="18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Crore Rupees</a:t>
            </a:r>
            <a:endParaRPr lang="en-US" sz="6000" dirty="0"/>
          </a:p>
        </p:txBody>
      </p:sp>
      <p:sp>
        <p:nvSpPr>
          <p:cNvPr id="13" name="Shape 10"/>
          <p:cNvSpPr/>
          <p:nvPr/>
        </p:nvSpPr>
        <p:spPr>
          <a:xfrm>
            <a:off x="9418320" y="3657600"/>
            <a:ext cx="8046720" cy="29946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1"/>
          <p:cNvSpPr/>
          <p:nvPr/>
        </p:nvSpPr>
        <p:spPr>
          <a:xfrm>
            <a:off x="9875520" y="411480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B554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2"/>
          <p:cNvSpPr txBox="1"/>
          <p:nvPr/>
        </p:nvSpPr>
        <p:spPr>
          <a:xfrm>
            <a:off x="9875520" y="4114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0" y="48006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DALYs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875520" y="525780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B5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15.93</a:t>
            </a:r>
            <a:r>
              <a:rPr lang="en-US" sz="18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Crore Rupees</a:t>
            </a:r>
            <a:endParaRPr lang="en-US" sz="6000" dirty="0"/>
          </a:p>
        </p:txBody>
      </p:sp>
      <p:sp>
        <p:nvSpPr>
          <p:cNvPr id="18" name="Shape 15"/>
          <p:cNvSpPr/>
          <p:nvPr/>
        </p:nvSpPr>
        <p:spPr>
          <a:xfrm>
            <a:off x="822960" y="7178040"/>
            <a:ext cx="16642080" cy="1508760"/>
          </a:xfrm>
          <a:prstGeom prst="roundRect">
            <a:avLst>
              <a:gd name="adj" fmla="val 7273"/>
            </a:avLst>
          </a:prstGeom>
          <a:solidFill>
            <a:srgbClr val="1B2E33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6"/>
          <p:cNvSpPr txBox="1"/>
          <p:nvPr/>
        </p:nvSpPr>
        <p:spPr>
          <a:xfrm>
            <a:off x="1280160" y="7178040"/>
            <a:ext cx="1572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According to this assessment, </a:t>
            </a:r>
            <a:r>
              <a:rPr lang="en-US" sz="2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reuse for irrigation (S2) is not recommended</a:t>
            </a:r>
            <a:r>
              <a:rPr lang="en-US" sz="2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the population faces Rs 14.66 crore higher damage in that scenario because of increased diarrheal disease burden.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822960" y="9784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Budget Analysis 2026-27, n.d.; Bergion et al., 2020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Sensitive Is the Result to Key Variables?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7433906"/>
            <a:ext cx="16642080" cy="1554480"/>
          </a:xfrm>
          <a:prstGeom prst="roundRect">
            <a:avLst>
              <a:gd name="adj" fmla="val 7059"/>
            </a:avLst>
          </a:prstGeom>
          <a:solidFill>
            <a:srgbClr val="1B2E33"/>
          </a:solidFill>
          <a:ln/>
        </p:spPr>
        <p:txBody>
          <a:bodyPr/>
          <a:lstStyle/>
          <a:p>
            <a:endParaRPr lang="en-NL" dirty="0"/>
          </a:p>
        </p:txBody>
      </p:sp>
      <p:sp>
        <p:nvSpPr>
          <p:cNvPr id="5" name="Shape 3"/>
          <p:cNvSpPr/>
          <p:nvPr/>
        </p:nvSpPr>
        <p:spPr>
          <a:xfrm>
            <a:off x="1028700" y="7731086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6" name="Image 0" descr="/home/claude/deck_build/icons/slider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29" y="7961515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7525346"/>
            <a:ext cx="1453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Among the variants chosen (based on uncertainty and potential influence), the net monetary value of public health benefits is </a:t>
            </a:r>
            <a:r>
              <a:rPr lang="en-US" sz="2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sensitive to the chance of ingestion of water during irrigation</a:t>
            </a:r>
            <a:r>
              <a:rPr lang="en-US" sz="2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400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624797"/>
              </p:ext>
            </p:extLst>
          </p:nvPr>
        </p:nvGraphicFramePr>
        <p:xfrm>
          <a:off x="822960" y="2075854"/>
          <a:ext cx="16276320" cy="493776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7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Variation range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where net DALY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turns negative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(Lakh Rs / unit change)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water supplied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kern="12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500,000 litres per day</a:t>
                      </a: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 of ingestion of water during irrigation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kern="12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0.000076% to 0.01%</a:t>
                      </a: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0.000076%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10E+08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Campylobacter concentration (in BAU)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2400" kern="12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0.0007524 to 0.0099089 organisms per litre</a:t>
                      </a: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0.0099089 organisms per litre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−160,084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Campylobacter concentration (in S2)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kern="12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</a:t>
                      </a:r>
                      <a:r>
                        <a:rPr lang="en-US" sz="2400" dirty="0">
                          <a:solidFill>
                            <a:srgbClr val="B55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2400" kern="12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150.48 organisms per litre</a:t>
                      </a: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 organisms per litre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19,432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ROOM FOR IMPROVEMENT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Validity and Measurement Validity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32954"/>
            <a:ext cx="166420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4"/>
          <p:cNvSpPr txBox="1"/>
          <p:nvPr/>
        </p:nvSpPr>
        <p:spPr>
          <a:xfrm>
            <a:off x="1215043" y="274538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Validity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125883" y="2152994"/>
            <a:ext cx="1294707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and exposure modelling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(organisms per L): primary data would improve accuracy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weights are currently drawn from outside India</a:t>
            </a:r>
          </a:p>
        </p:txBody>
      </p:sp>
      <p:sp>
        <p:nvSpPr>
          <p:cNvPr id="9" name="Shape 6"/>
          <p:cNvSpPr/>
          <p:nvPr/>
        </p:nvSpPr>
        <p:spPr>
          <a:xfrm>
            <a:off x="822960" y="4484714"/>
            <a:ext cx="16642080" cy="182880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Text 8"/>
          <p:cNvSpPr txBox="1"/>
          <p:nvPr/>
        </p:nvSpPr>
        <p:spPr>
          <a:xfrm>
            <a:off x="1215043" y="4780505"/>
            <a:ext cx="2650375" cy="1246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Validity </a:t>
            </a:r>
            <a:br>
              <a:rPr lang="en-US" sz="2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2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(Public Health)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125883" y="4484714"/>
            <a:ext cx="12947074" cy="1680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diarrheal disease burden was estimated; Other health effects could be included (POPs, heavy metals, vector-borne diseases, mental health effects)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ingestion pathway was modelled; Aerosol and food-borne pathways could be explored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822960" y="6633554"/>
            <a:ext cx="16642080" cy="283464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Text 12"/>
          <p:cNvSpPr txBox="1"/>
          <p:nvPr/>
        </p:nvSpPr>
        <p:spPr>
          <a:xfrm>
            <a:off x="1215043" y="6970224"/>
            <a:ext cx="2650375" cy="1949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</a:t>
            </a:r>
            <a:br>
              <a:rPr lang="en-US" sz="2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2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Validity (Benefits)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4125883" y="6844143"/>
            <a:ext cx="12947074" cy="24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using GSDP, value of life is equated to value of livelihood, which is considered incorrect. HM Green Book recommends WTP approach (via revealed/stated preferences) but that would cost more time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public health benefits were measured; Could include other benefits/costs (agricultural productivity changes, opportunity cost of selling wastewater, implementation costs)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go beyond instrumental value framing: a plural value framework / broader well-being approach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AA515-860F-9C44-32B6-3179A943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BDCF83-92F8-C1D2-592A-C6754680CA21}"/>
              </a:ext>
            </a:extLst>
          </p:cNvPr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ROOM FOR IMPROVEMENT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01E1ED-7E24-0022-4072-37DBCC02C538}"/>
              </a:ext>
            </a:extLst>
          </p:cNvPr>
          <p:cNvSpPr txBox="1"/>
          <p:nvPr/>
        </p:nvSpPr>
        <p:spPr>
          <a:xfrm>
            <a:off x="822960" y="86868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Validity and Reliability</a:t>
            </a:r>
            <a:endParaRPr lang="en-US" sz="3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7EF90C5-FC64-C250-F927-B5B2330E5814}"/>
              </a:ext>
            </a:extLst>
          </p:cNvPr>
          <p:cNvSpPr/>
          <p:nvPr/>
        </p:nvSpPr>
        <p:spPr>
          <a:xfrm>
            <a:off x="822960" y="2423160"/>
            <a:ext cx="1664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C8B1CF7-5E46-7A1B-D328-9A339C6D3F6A}"/>
              </a:ext>
            </a:extLst>
          </p:cNvPr>
          <p:cNvSpPr txBox="1"/>
          <p:nvPr/>
        </p:nvSpPr>
        <p:spPr>
          <a:xfrm>
            <a:off x="1215043" y="28575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Validity</a:t>
            </a:r>
            <a:endParaRPr lang="en-US" sz="24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04E3784-E221-018B-8C00-4536D17E77AC}"/>
              </a:ext>
            </a:extLst>
          </p:cNvPr>
          <p:cNvSpPr txBox="1"/>
          <p:nvPr/>
        </p:nvSpPr>
        <p:spPr>
          <a:xfrm>
            <a:off x="4125883" y="2743200"/>
            <a:ext cx="12947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conclusions are being drawn about other cities, so this is not a concern here</a:t>
            </a:r>
            <a:endParaRPr lang="en-US" sz="24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7BED405-681D-B35C-0433-B62F21BE9F75}"/>
              </a:ext>
            </a:extLst>
          </p:cNvPr>
          <p:cNvSpPr/>
          <p:nvPr/>
        </p:nvSpPr>
        <p:spPr>
          <a:xfrm>
            <a:off x="822960" y="4160520"/>
            <a:ext cx="1664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08176DA-DF68-2F25-9A13-D69D4EB41BF2}"/>
              </a:ext>
            </a:extLst>
          </p:cNvPr>
          <p:cNvSpPr txBox="1"/>
          <p:nvPr/>
        </p:nvSpPr>
        <p:spPr>
          <a:xfrm>
            <a:off x="1215043" y="45948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24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478A02F3-1F42-FC44-7313-E8D6457F4C1C}"/>
              </a:ext>
            </a:extLst>
          </p:cNvPr>
          <p:cNvSpPr txBox="1"/>
          <p:nvPr/>
        </p:nvSpPr>
        <p:spPr>
          <a:xfrm>
            <a:off x="4125883" y="4480560"/>
            <a:ext cx="12947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matter more when collecting primary data; this assignment relied only on secondary data</a:t>
            </a:r>
            <a:endParaRPr lang="en-US" sz="24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762F94B-D91D-8AD6-827E-B44EEE753E1C}"/>
              </a:ext>
            </a:extLst>
          </p:cNvPr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42274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705EC-94E3-2490-4F5B-124E8BFE1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07561CD-082F-32E5-C4AC-DCD75339590E}"/>
              </a:ext>
            </a:extLst>
          </p:cNvPr>
          <p:cNvSpPr/>
          <p:nvPr/>
        </p:nvSpPr>
        <p:spPr>
          <a:xfrm>
            <a:off x="822960" y="1874520"/>
            <a:ext cx="16459200" cy="7726679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33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03D0937-7860-7503-8DD8-98FD7347DC20}"/>
              </a:ext>
            </a:extLst>
          </p:cNvPr>
          <p:cNvSpPr txBox="1"/>
          <p:nvPr/>
        </p:nvSpPr>
        <p:spPr>
          <a:xfrm>
            <a:off x="1142999" y="2272145"/>
            <a:ext cx="15842674" cy="6442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spcAft>
                <a:spcPts val="1000"/>
              </a:spcAft>
              <a:buSzPct val="100000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assignment used Claude for the following purposes: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relevant literature; For example – “Find peer reviewed papers on economic valuation of health benefits related to waste water reuse”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 concept / term / method; For example – “What is a QMRA? What are the steps involved?”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 already identified data sources for the excel sheet; For example – “Retrieve Table 4 from George et al 2015 and organize it in a format that I can directly copy onto excel”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the visual style of this presentation; For example – “Improve the visuals in this presentation, keep it minimalistic. Don’t leave out any information because all of it is important”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endParaRPr lang="en-US" sz="2400" dirty="0">
              <a:solidFill>
                <a:srgbClr val="5B6B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  <a:spcAft>
                <a:spcPts val="1000"/>
              </a:spcAft>
              <a:buSzPct val="100000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done by human brain exclusively: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how to go about the assignment, how to structure the excel and the presentation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about the context of wastewater reuse in Bengaluru, approaches to measuring its health effects and to valuing the health effects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through decisions to choose, assume and derive the values used in the analyses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DAF356E-1AC8-C4CA-048D-684EF60336C9}"/>
              </a:ext>
            </a:extLst>
          </p:cNvPr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B22687FA-0345-77AA-C524-C08A84DF9E4C}"/>
              </a:ext>
            </a:extLst>
          </p:cNvPr>
          <p:cNvSpPr txBox="1"/>
          <p:nvPr/>
        </p:nvSpPr>
        <p:spPr>
          <a:xfrm>
            <a:off x="822960" y="86868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on use of AI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602864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0" y="4549139"/>
            <a:ext cx="18288000" cy="2322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b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52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Questions?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14242473" y="8918171"/>
            <a:ext cx="33805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→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8046720" cy="768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Adegoke, A. A., Amoah, I. D., Stenström, T. A., Verbyla, M. E., &amp; Mihelcic, J. R. (2018). Epidemiological Evidence and Health Risks Associated With Agricultural Reuse of Partially Treated and Untreated Wastewater: A Review. Frontiers in Public Health, 6. https://doi.org/10.3389/fpubh.2018.00337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Ahmad, F., &amp; Singhal, S. (2024). Waste to Worth: Managing India’s Urban Water Crisis through Wastewater Reuse. Centre for Science and Environment. https://www.cseindia.org/waste-to-worth-managing-india-s-urban-water-crisis-through-wastewater-reuse-12527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Bergion, V., Lindhe, A., Sokolova, E., &amp; Rosén, L. (2020). Economic Valuation for Cost–Benefit Analysis of Health Risk Reduction in Drinking Water Systems. Exposure and Health, 12(1), 99–110. https://doi.org/10.1007/s12403-018-00291-8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India. (n.d.). India—Census of India 2011—Primary Census Abstract—Data Highlights—Karnataka—Series 30. Retrieved September 26, 2026, from https://censusindia.gov.in/nada/index.php/catalog/11311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George, J., An, W., Joshi, D., Zhang, D., Yang, M., &amp; Suriyanarayanan, S. (2015). Quantitative Microbial Risk Assessment to Estimate the Health Risk in Urban Drinking Water Systems of Mysore, Karnataka, India. Water Quality, Exposure and Health, 7(3), 331–338. https://doi.org/10.1007/s12403-014-0152-4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Godfrey, S., </a:t>
            </a: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Labhasetwar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P., &amp; Wate, S. (2009). Greywater reuse in residential schools in Madhya Pradesh, India—A case study of cost–benefit analysis. Resources, Conservation and Recycling, 53(5), 287–293. https://doi.org/10.1016/j.resconrec.2009.01.001</a:t>
            </a: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Karnataka. (n.d.). </a:t>
            </a: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Commissioner Office—Minimum-wages-final-notification. Retrieved September 26, 2026, from https://karmikaspandana.karnataka.gov.in/47/minimum-wages-final-notification/en</a:t>
            </a: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drinking-water quality, 4th edition, incorporating the 1st addendum. (2017). World Health Organization. https://www.who.int/publications/i/item/9789241549950</a:t>
            </a: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Hajare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R., </a:t>
            </a: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Labhasetwar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P., &amp; </a:t>
            </a: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Nagarnaik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P. (2020). Evaluation of pathogen risks using QMRA to explore wastewater reuse options: A case study from New Delhi in India. Water Science and Technology, 83(3), 543–555. https://doi.org/10.2166/wst.2020.583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NL" sz="1050" dirty="0"/>
              <a:t>HM Treasury. (n.d.). </a:t>
            </a:r>
            <a:r>
              <a:rPr lang="en-NL" sz="1050" i="1" dirty="0"/>
              <a:t>The Green Book (2026)</a:t>
            </a:r>
            <a:r>
              <a:rPr lang="en-NL" sz="1050" dirty="0"/>
              <a:t>. GOV.UK. Retrieved October 8, 2026, from </a:t>
            </a:r>
            <a:r>
              <a:rPr lang="en-NL" sz="1050" dirty="0">
                <a:hlinkClick r:id="rId3"/>
              </a:rPr>
              <a:t>https://www.gov.uk/government/publications/the-green-book--2/the-green-book-2026</a:t>
            </a:r>
            <a:endParaRPr lang="en-US" sz="1050" dirty="0">
              <a:solidFill>
                <a:srgbClr val="1B2E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Jarvis, T., Scott, F., El-</a:t>
            </a: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Jardali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F., &amp; Alvarez, E. (2020). Defining and classifying public health systems: A critical interpretive synthesis. Health Research Policy and Systems, 18(1), 68. https://doi.org/10.1186/s12961-020-00583-z</a:t>
            </a: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Kalita, M., Kalita, B. K., </a:t>
            </a: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Patowary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A. N., Bora, R., &amp; Kanungo, S. (2026). Trends and burden of </a:t>
            </a: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diarrhoeal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diseases across India, 1990 - 2023: A systematic analysis from the global burden of disease study 2023. New Microbes and New Infections, 71, 101764. https://doi.org/10.1016/j.nmni.2026.101764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2148840"/>
            <a:ext cx="8046720" cy="768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Budget Analysis 2026-27. (n.d.). PRS Legislative Research. Retrieved September 26, 2026, from https://prsindia.org/budgets/states/karnataka-budget-analysis-2026-27</a:t>
            </a: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Kulranjan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R., </a:t>
            </a: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Palur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S., &amp; Nesi, M. (2024). How Water Flows Through Bengaluru. https://welllabs.org/wp-content/uploads/2024/03/Jan-2024_WELL-Labs-Bengaluru-Urban-Water-Balance-Report.pdf</a:t>
            </a: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Macroeconomics and health: Investing in health for economic development. (n.d.). World Health Organization. Retrieved September 25, 2026, from https://www.who.int/publications/i/item/924154550X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Mara, D. D., Sleigh, P. A., Blumenthal, U. J., &amp; Carr, R. M. (2006). Health risks in wastewater irrigation: Comparing estimates from quantitative microbial risk analyses and epidemiological studies. Journal of Water and Health, 5(1), 39–50. https://doi.org/10.2166/wh.2006.055</a:t>
            </a: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Murray, C. J. L., &amp; Acharya, A. K. (1997). Understanding DALYs. Journal of Health Economics, 16(6), 703–730. https://doi.org/10.1016/S0167-6296(97)00004-0</a:t>
            </a: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Shi, K.-W., Wang, C.-W., &amp; Jiang, S. C. (2018). Quantitative microbial risk assessment of Greywater on-site reuse. Science of The Total Environment, 635, 1507–1519. https://doi.org/10.1016/j.scitotenv.2018.04.197</a:t>
            </a: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Smarr, M. M., Grantz, K. L., Zhang, C., Sundaram, R., </a:t>
            </a: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Maisog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J. M., Barr, D. B., &amp; Louis, G. M. B. (2016). Persistent organic pollutants and pregnancy complications. Science of The Total Environment, 551–552, 285–291. https://doi.org/10.1016/j.scitotenv.2016.02.030</a:t>
            </a: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050" dirty="0" err="1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Zhiteneva</a:t>
            </a:r>
            <a:r>
              <a:rPr lang="en-US" sz="10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V., Carvajal, G., Shehata, O., Hübner, U., &amp; Drewes, J. E. (2021). Quantitative microbial risk assessment of a non-membrane based indirect potable water reuse system using Bayesian networks. Science of The Total Environment, 780, 146462. https://doi.org/10.1016/j.scitotenv.2021.146462</a:t>
            </a: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endParaRPr lang="en-US" sz="1050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2359</Words>
  <Application>Microsoft Office PowerPoint</Application>
  <PresentationFormat>Custom</PresentationFormat>
  <Paragraphs>312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Nikshep Trinetra</cp:lastModifiedBy>
  <cp:revision>16</cp:revision>
  <dcterms:created xsi:type="dcterms:W3CDTF">2026-09-26T15:08:05Z</dcterms:created>
  <dcterms:modified xsi:type="dcterms:W3CDTF">2026-10-08T08:11:37Z</dcterms:modified>
</cp:coreProperties>
</file>